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Raleway SemiBold"/>
      <p:regular r:id="rId33"/>
      <p:bold r:id="rId34"/>
      <p:italic r:id="rId35"/>
      <p:boldItalic r:id="rId36"/>
    </p:embeddedFont>
    <p:embeddedFont>
      <p:font typeface="Hanken Grotesk"/>
      <p:regular r:id="rId37"/>
      <p:bold r:id="rId38"/>
      <p:italic r:id="rId39"/>
      <p:boldItalic r:id="rId40"/>
    </p:embeddedFont>
    <p:embeddedFont>
      <p:font typeface="Raleway ExtraBold"/>
      <p:bold r:id="rId41"/>
      <p:boldItalic r:id="rId42"/>
    </p:embeddedFont>
    <p:embeddedFont>
      <p:font typeface="Anaheim"/>
      <p:regular r:id="rId43"/>
      <p:bold r:id="rId44"/>
    </p:embeddedFont>
    <p:embeddedFont>
      <p:font typeface="Raleway Black"/>
      <p:bold r:id="rId45"/>
      <p:boldItalic r:id="rId46"/>
    </p:embeddedFont>
    <p:embeddedFont>
      <p:font typeface="Raleway Medium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088EB2-90B0-48BD-AB93-235CF122E81F}">
  <a:tblStyle styleId="{F2088EB2-90B0-48BD-AB93-235CF122E8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902DE4A-83B4-47DE-BFD9-526EA7EDCC3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ankenGrotesk-boldItalic.fntdata"/><Relationship Id="rId42" Type="http://schemas.openxmlformats.org/officeDocument/2006/relationships/font" Target="fonts/RalewayExtraBold-boldItalic.fntdata"/><Relationship Id="rId41" Type="http://schemas.openxmlformats.org/officeDocument/2006/relationships/font" Target="fonts/RalewayExtraBold-bold.fntdata"/><Relationship Id="rId44" Type="http://schemas.openxmlformats.org/officeDocument/2006/relationships/font" Target="fonts/Anaheim-bold.fntdata"/><Relationship Id="rId43" Type="http://schemas.openxmlformats.org/officeDocument/2006/relationships/font" Target="fonts/Anaheim-regular.fntdata"/><Relationship Id="rId46" Type="http://schemas.openxmlformats.org/officeDocument/2006/relationships/font" Target="fonts/RalewayBlack-boldItalic.fntdata"/><Relationship Id="rId45" Type="http://schemas.openxmlformats.org/officeDocument/2006/relationships/font" Target="fonts/RalewayBlac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alewayMedium-bold.fntdata"/><Relationship Id="rId47" Type="http://schemas.openxmlformats.org/officeDocument/2006/relationships/font" Target="fonts/RalewayMedium-regular.fntdata"/><Relationship Id="rId49" Type="http://schemas.openxmlformats.org/officeDocument/2006/relationships/font" Target="fonts/Raleway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33" Type="http://schemas.openxmlformats.org/officeDocument/2006/relationships/font" Target="fonts/RalewaySemiBold-regular.fntdata"/><Relationship Id="rId32" Type="http://schemas.openxmlformats.org/officeDocument/2006/relationships/font" Target="fonts/Raleway-boldItalic.fntdata"/><Relationship Id="rId35" Type="http://schemas.openxmlformats.org/officeDocument/2006/relationships/font" Target="fonts/RalewaySemiBold-italic.fntdata"/><Relationship Id="rId34" Type="http://schemas.openxmlformats.org/officeDocument/2006/relationships/font" Target="fonts/RalewaySemiBold-bold.fntdata"/><Relationship Id="rId37" Type="http://schemas.openxmlformats.org/officeDocument/2006/relationships/font" Target="fonts/HankenGrotesk-regular.fntdata"/><Relationship Id="rId36" Type="http://schemas.openxmlformats.org/officeDocument/2006/relationships/font" Target="fonts/RalewaySemiBold-boldItalic.fntdata"/><Relationship Id="rId39" Type="http://schemas.openxmlformats.org/officeDocument/2006/relationships/font" Target="fonts/HankenGrotesk-italic.fntdata"/><Relationship Id="rId38" Type="http://schemas.openxmlformats.org/officeDocument/2006/relationships/font" Target="fonts/HankenGrotesk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font" Target="fonts/Raleway-regular.fntdata"/><Relationship Id="rId50" Type="http://schemas.openxmlformats.org/officeDocument/2006/relationships/font" Target="fonts/Raleway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576a45fa49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2576a45fa49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184d99d1a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184d99d1a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a74d60b6dd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a74d60b6dd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a7d07313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a7d07313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a6b942e7e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3a6b942e7e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a6b942e7e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a6b942e7e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a6b942e7e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a6b942e7e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a6b942e7e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a6b942e7e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a821fd81e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3a821fd81e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a6b942e7e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3a6b942e7e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a6b942e7e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3a6b942e7e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a6b942e7ec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3a6b942e7ec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a6b942e7ec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3a6b942e7ec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a6b942e7ec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a6b942e7ec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a6b942e7ec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3a6b942e7ec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a6b942e7ec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a6b942e7ec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a6b942e7ec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3a6b942e7ec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a821fd81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3a821fd81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b="b" l="l" r="r" t="t"/>
              <a:pathLst>
                <a:path extrusionOk="0" fill="none" h="17396" w="17396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b="b" l="l" r="r" t="t"/>
              <a:pathLst>
                <a:path extrusionOk="0" fill="none" h="11931" w="1196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flipH="1" rot="5400000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b="b" l="l" r="r" t="t"/>
              <a:pathLst>
                <a:path extrusionOk="0" fill="none" h="2777" w="4864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3"/>
          <p:cNvSpPr txBox="1"/>
          <p:nvPr>
            <p:ph hasCustomPrompt="1"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62" name="Google Shape;62;p4"/>
            <p:cNvGrpSpPr/>
            <p:nvPr/>
          </p:nvGrpSpPr>
          <p:grpSpPr>
            <a:xfrm flipH="1" rot="10800000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66" name="Google Shape;66;p4"/>
            <p:cNvGrpSpPr/>
            <p:nvPr/>
          </p:nvGrpSpPr>
          <p:grpSpPr>
            <a:xfrm flipH="1" rot="-5400000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81" name="Google Shape;81;p5"/>
          <p:cNvSpPr txBox="1"/>
          <p:nvPr>
            <p:ph idx="1" type="subTitle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2" type="subTitle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3" type="subTitle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84" name="Google Shape;84;p5"/>
          <p:cNvSpPr txBox="1"/>
          <p:nvPr>
            <p:ph idx="4" type="subTitle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flipH="1" rot="5400000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b="b" l="l" r="r" t="t"/>
                <a:pathLst>
                  <a:path extrusionOk="0" h="17185" w="95259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" name="Google Shape;138;p7"/>
          <p:cNvSpPr txBox="1"/>
          <p:nvPr>
            <p:ph idx="1" type="subTitle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39" name="Google Shape;139;p7"/>
          <p:cNvSpPr/>
          <p:nvPr>
            <p:ph idx="2" type="pic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b="b" l="l" r="r" t="t"/>
              <a:pathLst>
                <a:path extrusionOk="0" h="12495" w="98988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49" name="Google Shape;149;p7"/>
            <p:cNvGrpSpPr/>
            <p:nvPr/>
          </p:nvGrpSpPr>
          <p:grpSpPr>
            <a:xfrm flipH="1" rot="-5400000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b="b" l="l" r="r" t="t"/>
              <a:pathLst>
                <a:path extrusionOk="0" h="126889" w="55192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/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flipH="1" rot="5400000">
              <a:off x="8631182" y="440359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flipH="1" rot="10800000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flipH="1" rot="-5400000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/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8" name="Google Shape;208;p9"/>
          <p:cNvSpPr txBox="1"/>
          <p:nvPr>
            <p:ph idx="1" type="subTitle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flipH="1" rot="-5400000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flipH="1" rot="5400000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flipH="1" rot="5400000">
              <a:off x="49529" y="9370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flipH="1" rot="5400000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 txBox="1"/>
          <p:nvPr>
            <p:ph hasCustomPrompt="1" type="title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/>
          <p:nvPr>
            <p:ph idx="1" type="subTitle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flipH="1" rot="5400000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1" name="Google Shape;321;p13"/>
          <p:cNvSpPr txBox="1"/>
          <p:nvPr>
            <p:ph hasCustomPrompt="1" idx="2" type="title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/>
          <p:nvPr>
            <p:ph hasCustomPrompt="1" idx="3" type="title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/>
          <p:nvPr>
            <p:ph hasCustomPrompt="1" idx="4" type="title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/>
          <p:nvPr>
            <p:ph hasCustomPrompt="1" idx="5" type="title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/>
          <p:nvPr>
            <p:ph hasCustomPrompt="1" idx="6" type="title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/>
          <p:nvPr>
            <p:ph hasCustomPrompt="1" idx="7" type="title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/>
          <p:nvPr>
            <p:ph idx="1" type="subTitle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28" name="Google Shape;328;p13"/>
          <p:cNvSpPr txBox="1"/>
          <p:nvPr>
            <p:ph idx="8" type="subTitle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29" name="Google Shape;329;p13"/>
          <p:cNvSpPr txBox="1"/>
          <p:nvPr>
            <p:ph idx="9" type="subTitle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30" name="Google Shape;330;p13"/>
          <p:cNvSpPr txBox="1"/>
          <p:nvPr>
            <p:ph idx="13" type="subTitle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31" name="Google Shape;331;p13"/>
          <p:cNvSpPr txBox="1"/>
          <p:nvPr>
            <p:ph idx="14" type="subTitle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32" name="Google Shape;332;p13"/>
          <p:cNvSpPr txBox="1"/>
          <p:nvPr>
            <p:ph idx="15" type="subTitle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b="b" l="l" r="r" t="t"/>
                <a:pathLst>
                  <a:path extrusionOk="0" fill="none" h="1784" w="1784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cap="flat" cmpd="sng" w="597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flipH="1" rot="5400000">
                <a:off x="7506622" y="10417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b="b" l="l" r="r" t="t"/>
              <a:pathLst>
                <a:path extrusionOk="0" h="135138" w="41104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6" name="Google Shape;366;p14"/>
          <p:cNvSpPr txBox="1"/>
          <p:nvPr>
            <p:ph idx="1" type="subTitle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378" name="Google Shape;378;p14"/>
            <p:cNvGrpSpPr/>
            <p:nvPr/>
          </p:nvGrpSpPr>
          <p:grpSpPr>
            <a:xfrm flipH="1" rot="-5400000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flipH="1" rot="10800000">
              <a:off x="8147148" y="2028637"/>
              <a:ext cx="1521858" cy="631929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2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1" name="Google Shape;391;p15"/>
          <p:cNvSpPr txBox="1"/>
          <p:nvPr>
            <p:ph idx="1" type="subTitle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2" name="Google Shape;402;p16"/>
          <p:cNvSpPr txBox="1"/>
          <p:nvPr>
            <p:ph idx="1" type="subTitle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3" name="Google Shape;403;p16"/>
          <p:cNvSpPr txBox="1"/>
          <p:nvPr>
            <p:ph idx="2" type="subTitle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4" name="Google Shape;404;p16"/>
          <p:cNvSpPr txBox="1"/>
          <p:nvPr>
            <p:ph idx="3" type="subTitle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16"/>
          <p:cNvSpPr txBox="1"/>
          <p:nvPr>
            <p:ph idx="4" type="subTitle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06" name="Google Shape;406;p16"/>
          <p:cNvSpPr txBox="1"/>
          <p:nvPr>
            <p:ph idx="5" type="subTitle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07" name="Google Shape;407;p16"/>
          <p:cNvSpPr txBox="1"/>
          <p:nvPr>
            <p:ph idx="6" type="subTitle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flipH="1" rot="5400000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b="b" l="l" r="r" t="t"/>
                <a:pathLst>
                  <a:path extrusionOk="0" h="92923" w="19046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33" name="Google Shape;433;p17"/>
          <p:cNvSpPr txBox="1"/>
          <p:nvPr>
            <p:ph idx="1" type="subTitle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4" name="Google Shape;434;p17"/>
          <p:cNvSpPr txBox="1"/>
          <p:nvPr>
            <p:ph idx="2" type="subTitle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5" name="Google Shape;435;p17"/>
          <p:cNvSpPr txBox="1"/>
          <p:nvPr>
            <p:ph idx="3" type="subTitle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6" name="Google Shape;436;p17"/>
          <p:cNvSpPr txBox="1"/>
          <p:nvPr>
            <p:ph idx="4" type="subTitle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7" name="Google Shape;437;p17"/>
          <p:cNvSpPr txBox="1"/>
          <p:nvPr>
            <p:ph idx="5" type="subTitle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38" name="Google Shape;438;p17"/>
          <p:cNvSpPr txBox="1"/>
          <p:nvPr>
            <p:ph idx="6" type="subTitle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39" name="Google Shape;439;p17"/>
          <p:cNvSpPr txBox="1"/>
          <p:nvPr>
            <p:ph idx="7" type="subTitle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40" name="Google Shape;440;p17"/>
          <p:cNvSpPr txBox="1"/>
          <p:nvPr>
            <p:ph idx="8" type="subTitle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flipH="1" rot="10800000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65" name="Google Shape;465;p18"/>
          <p:cNvSpPr txBox="1"/>
          <p:nvPr>
            <p:ph idx="1" type="subTitle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6" name="Google Shape;466;p18"/>
          <p:cNvSpPr txBox="1"/>
          <p:nvPr>
            <p:ph idx="2" type="subTitle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7" name="Google Shape;467;p18"/>
          <p:cNvSpPr txBox="1"/>
          <p:nvPr>
            <p:ph idx="3" type="subTitle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18"/>
          <p:cNvSpPr txBox="1"/>
          <p:nvPr>
            <p:ph idx="4" type="subTitle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9" name="Google Shape;469;p18"/>
          <p:cNvSpPr txBox="1"/>
          <p:nvPr>
            <p:ph idx="5" type="subTitle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0" name="Google Shape;470;p18"/>
          <p:cNvSpPr txBox="1"/>
          <p:nvPr>
            <p:ph idx="6" type="subTitle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1" name="Google Shape;471;p18"/>
          <p:cNvSpPr txBox="1"/>
          <p:nvPr>
            <p:ph idx="7" type="subTitle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72" name="Google Shape;472;p18"/>
          <p:cNvSpPr txBox="1"/>
          <p:nvPr>
            <p:ph idx="8" type="subTitle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73" name="Google Shape;473;p18"/>
          <p:cNvSpPr txBox="1"/>
          <p:nvPr>
            <p:ph idx="9" type="subTitle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74" name="Google Shape;474;p18"/>
          <p:cNvSpPr txBox="1"/>
          <p:nvPr>
            <p:ph idx="13" type="subTitle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75" name="Google Shape;475;p18"/>
          <p:cNvSpPr txBox="1"/>
          <p:nvPr>
            <p:ph idx="14" type="subTitle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76" name="Google Shape;476;p18"/>
          <p:cNvSpPr txBox="1"/>
          <p:nvPr>
            <p:ph idx="15" type="subTitle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flipH="1" rot="-5400000">
              <a:off x="157300" y="26709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flipH="1" rot="-5400000">
              <a:off x="42350" y="24235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flipH="1" rot="10800000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flipH="1" rot="10800000">
              <a:off x="8899964" y="700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flipH="1" rot="10800000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flipH="1" rot="-5400000">
              <a:off x="-642564" y="4073091"/>
              <a:ext cx="2068124" cy="310088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9"/>
          <p:cNvSpPr txBox="1"/>
          <p:nvPr>
            <p:ph hasCustomPrompt="1" type="title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/>
          <p:nvPr>
            <p:ph idx="1" type="subTitle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2" name="Google Shape;502;p19"/>
          <p:cNvSpPr txBox="1"/>
          <p:nvPr>
            <p:ph hasCustomPrompt="1" idx="2" type="title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/>
          <p:nvPr>
            <p:ph idx="3" type="subTitle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4" name="Google Shape;504;p19"/>
          <p:cNvSpPr txBox="1"/>
          <p:nvPr>
            <p:ph hasCustomPrompt="1" idx="4" type="title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/>
          <p:nvPr>
            <p:ph idx="5" type="subTitle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03829" y="-3621215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flipH="1" rot="5400000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flipH="1" rot="-5400000">
              <a:off x="229850" y="-2095662"/>
              <a:ext cx="1197198" cy="4338856"/>
            </a:xfrm>
            <a:custGeom>
              <a:rect b="b" l="l" r="r" t="t"/>
              <a:pathLst>
                <a:path extrusionOk="0" h="65507" w="18075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b="b" l="l" r="r" t="t"/>
                <a:pathLst>
                  <a:path extrusionOk="0" h="145742" w="4321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b="b" l="l" r="r" t="t"/>
                <a:pathLst>
                  <a:path extrusionOk="0" h="103852" w="13625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flipH="1" rot="-5400000">
              <a:off x="399500" y="42238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flipH="1" rot="-5400000">
              <a:off x="99350" y="405013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flipH="1" rot="10800000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flipH="1" rot="5400000">
              <a:off x="2929586" y="46036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flipH="1" rot="10800000">
              <a:off x="8839514" y="33585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flipH="1" rot="10800000">
              <a:off x="-1381309" y="4693337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b="b" l="l" r="r" t="t"/>
                    <a:pathLst>
                      <a:path extrusionOk="0" fill="none" h="2777" w="4864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b="b" l="l" r="r" t="t"/>
                    <a:pathLst>
                      <a:path extrusionOk="0" fill="none" h="2719" w="2748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724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b="b" l="l" r="r" t="t"/>
                  <a:pathLst>
                    <a:path extrusionOk="0" h="96592" w="23262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2"/>
          <p:cNvSpPr txBox="1"/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3" name="Google Shape;593;p22"/>
          <p:cNvSpPr txBox="1"/>
          <p:nvPr>
            <p:ph idx="1" type="subTitle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sz="12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flipH="1" rot="10800000">
              <a:off x="410803" y="209925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flipH="1" rot="10800000">
              <a:off x="247028" y="239040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flipH="1" rot="5400000">
              <a:off x="-365574" y="-152135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flipH="1" rot="-5400000">
              <a:off x="8788045" y="359895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616" name="Google Shape;616;p23"/>
            <p:cNvGrpSpPr/>
            <p:nvPr/>
          </p:nvGrpSpPr>
          <p:grpSpPr>
            <a:xfrm flipH="1" rot="-5400000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flipH="1" rot="5400000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flipH="1" rot="10800000">
              <a:off x="248565" y="16583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flipH="1" rot="5400000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b="b" l="l" r="r" t="t"/>
              <a:pathLst>
                <a:path extrusionOk="0" h="92923" w="19046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" name="Google Shape;656;p25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57" name="Google Shape;657;p25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58" name="Google Shape;658;p25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" name="Google Shape;659;p25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0" name="Google Shape;660;p25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61" name="Google Shape;661;p25"/>
            <p:cNvSpPr/>
            <p:nvPr/>
          </p:nvSpPr>
          <p:spPr>
            <a:xfrm>
              <a:off x="7771212" y="29729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4" name="Google Shape;664;p25"/>
          <p:cNvSpPr/>
          <p:nvPr/>
        </p:nvSpPr>
        <p:spPr>
          <a:xfrm>
            <a:off x="-196650" y="4631450"/>
            <a:ext cx="9537300" cy="56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5" name="Google Shape;665;p25"/>
          <p:cNvSpPr txBox="1"/>
          <p:nvPr>
            <p:ph type="ctrTitle"/>
          </p:nvPr>
        </p:nvSpPr>
        <p:spPr>
          <a:xfrm>
            <a:off x="699400" y="1483750"/>
            <a:ext cx="6532500" cy="185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ONTOLOGY ALIGNMENT</a:t>
            </a:r>
            <a:r>
              <a:rPr lang="en" sz="3600"/>
              <a:t> </a:t>
            </a:r>
            <a:r>
              <a:rPr lang="en" sz="3800">
                <a:solidFill>
                  <a:schemeClr val="lt1"/>
                </a:solidFill>
              </a:rPr>
              <a:t>CLASSIFIER</a:t>
            </a:r>
            <a:r>
              <a:rPr lang="en" sz="3800"/>
              <a:t> 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BASED ON NLP</a:t>
            </a:r>
            <a:endParaRPr b="1" sz="25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66" name="Google Shape;666;p25"/>
          <p:cNvSpPr txBox="1"/>
          <p:nvPr>
            <p:ph idx="1" type="subTitle"/>
          </p:nvPr>
        </p:nvSpPr>
        <p:spPr>
          <a:xfrm>
            <a:off x="791650" y="1162525"/>
            <a:ext cx="43848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APPLIED DATA SCIENCE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667" name="Google Shape;667;p25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68" name="Google Shape;668;p25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9" name="Google Shape;669;p25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0" name="Google Shape;670;p25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1" name="Google Shape;671;p25"/>
          <p:cNvSpPr/>
          <p:nvPr/>
        </p:nvSpPr>
        <p:spPr>
          <a:xfrm rot="-5400000">
            <a:off x="8215875" y="805548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2" name="Google Shape;672;p25"/>
          <p:cNvGrpSpPr/>
          <p:nvPr/>
        </p:nvGrpSpPr>
        <p:grpSpPr>
          <a:xfrm flipH="1" rot="10800000">
            <a:off x="-2091338" y="122205"/>
            <a:ext cx="4791669" cy="923822"/>
            <a:chOff x="-78438" y="3775205"/>
            <a:chExt cx="4791669" cy="923822"/>
          </a:xfrm>
        </p:grpSpPr>
        <p:cxnSp>
          <p:nvCxnSpPr>
            <p:cNvPr id="673" name="Google Shape;673;p25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4" name="Google Shape;674;p25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5" name="Google Shape;675;p25"/>
            <p:cNvSpPr/>
            <p:nvPr/>
          </p:nvSpPr>
          <p:spPr>
            <a:xfrm>
              <a:off x="4519806" y="37752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6" name="Google Shape;676;p25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77" name="Google Shape;677;p25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78" name="Google Shape;678;p25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9" name="Google Shape;679;p25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" name="Google Shape;680;p25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1" name="Google Shape;681;p25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2" name="Google Shape;682;p25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3" name="Google Shape;683;p2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4" name="Google Shape;684;p2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" name="Google Shape;685;p2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" name="Google Shape;686;p2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7" name="Google Shape;687;p2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88" name="Google Shape;688;p25"/>
            <p:cNvSpPr/>
            <p:nvPr/>
          </p:nvSpPr>
          <p:spPr>
            <a:xfrm>
              <a:off x="3329300" y="82325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689" name="Google Shape;689;p25" title="polito_logo_2021_blu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47938"/>
            <a:ext cx="1033850" cy="731013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25"/>
          <p:cNvSpPr txBox="1"/>
          <p:nvPr/>
        </p:nvSpPr>
        <p:spPr>
          <a:xfrm>
            <a:off x="791650" y="3779675"/>
            <a:ext cx="2537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EF0F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Era Alcani</a:t>
            </a:r>
            <a:endParaRPr sz="1100">
              <a:solidFill>
                <a:srgbClr val="EEF0F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EF0F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Francesco Dal Cero</a:t>
            </a:r>
            <a:endParaRPr sz="1100">
              <a:solidFill>
                <a:srgbClr val="EEF0F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EF0F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Francesco Mastrosimone</a:t>
            </a:r>
            <a:endParaRPr sz="1100">
              <a:solidFill>
                <a:srgbClr val="EEF0F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EF0F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EF0F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EF0F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691" name="Google Shape;691;p25" title="Screenshot_2025-11-12_at_10.01.36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275" y="4743701"/>
            <a:ext cx="1033813" cy="33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697" name="Google Shape;697;p26"/>
          <p:cNvSpPr txBox="1"/>
          <p:nvPr>
            <p:ph idx="2" type="title"/>
          </p:nvPr>
        </p:nvSpPr>
        <p:spPr>
          <a:xfrm>
            <a:off x="2532675" y="1464750"/>
            <a:ext cx="5208000" cy="493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01     </a:t>
            </a:r>
            <a:r>
              <a:rPr lang="en" sz="17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BACKGROUND</a:t>
            </a:r>
            <a:endParaRPr sz="17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98" name="Google Shape;698;p26"/>
          <p:cNvSpPr txBox="1"/>
          <p:nvPr>
            <p:ph idx="3" type="title"/>
          </p:nvPr>
        </p:nvSpPr>
        <p:spPr>
          <a:xfrm>
            <a:off x="2532775" y="3167850"/>
            <a:ext cx="5208000" cy="493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04     </a:t>
            </a:r>
            <a:r>
              <a:rPr lang="en" sz="17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DESIGN</a:t>
            </a:r>
            <a:endParaRPr sz="17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99" name="Google Shape;699;p26"/>
          <p:cNvSpPr txBox="1"/>
          <p:nvPr>
            <p:ph idx="4" type="title"/>
          </p:nvPr>
        </p:nvSpPr>
        <p:spPr>
          <a:xfrm>
            <a:off x="2532775" y="2032450"/>
            <a:ext cx="5208000" cy="493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02    </a:t>
            </a:r>
            <a:r>
              <a:rPr lang="en" sz="17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VALUE PROPOSITION</a:t>
            </a:r>
            <a:endParaRPr sz="17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6"/>
          <p:cNvSpPr txBox="1"/>
          <p:nvPr>
            <p:ph idx="5" type="title"/>
          </p:nvPr>
        </p:nvSpPr>
        <p:spPr>
          <a:xfrm>
            <a:off x="2532775" y="3735550"/>
            <a:ext cx="5208000" cy="493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05     </a:t>
            </a:r>
            <a:r>
              <a:rPr lang="en" sz="17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WORK MANAGEMENT STRUCTURE</a:t>
            </a:r>
            <a:endParaRPr sz="17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1" name="Google Shape;701;p26"/>
          <p:cNvSpPr txBox="1"/>
          <p:nvPr>
            <p:ph idx="6" type="title"/>
          </p:nvPr>
        </p:nvSpPr>
        <p:spPr>
          <a:xfrm>
            <a:off x="2532775" y="2600150"/>
            <a:ext cx="5208000" cy="493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03    </a:t>
            </a:r>
            <a:r>
              <a:rPr lang="en" sz="17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GENERAL OBJECTIVE</a:t>
            </a:r>
            <a:endParaRPr sz="17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702" name="Google Shape;702;p26"/>
          <p:cNvGrpSpPr/>
          <p:nvPr/>
        </p:nvGrpSpPr>
        <p:grpSpPr>
          <a:xfrm>
            <a:off x="1339375" y="1762000"/>
            <a:ext cx="1193310" cy="3463350"/>
            <a:chOff x="472500" y="1762000"/>
            <a:chExt cx="1193310" cy="3463350"/>
          </a:xfrm>
        </p:grpSpPr>
        <p:grpSp>
          <p:nvGrpSpPr>
            <p:cNvPr id="703" name="Google Shape;703;p26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04" name="Google Shape;704;p2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2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6" name="Google Shape;706;p26"/>
            <p:cNvSpPr/>
            <p:nvPr/>
          </p:nvSpPr>
          <p:spPr>
            <a:xfrm>
              <a:off x="472500" y="1762000"/>
              <a:ext cx="700000" cy="3463350"/>
            </a:xfrm>
            <a:custGeom>
              <a:rect b="b" l="l" r="r" t="t"/>
              <a:pathLst>
                <a:path extrusionOk="0" h="138534" w="2800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7"/>
          <p:cNvSpPr txBox="1"/>
          <p:nvPr>
            <p:ph type="title"/>
          </p:nvPr>
        </p:nvSpPr>
        <p:spPr>
          <a:xfrm>
            <a:off x="1136800" y="2325725"/>
            <a:ext cx="3259500" cy="98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PROJECT BACKGROUND</a:t>
            </a:r>
            <a:endParaRPr sz="2900"/>
          </a:p>
        </p:txBody>
      </p:sp>
      <p:sp>
        <p:nvSpPr>
          <p:cNvPr id="712" name="Google Shape;712;p27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7"/>
          <p:cNvSpPr/>
          <p:nvPr/>
        </p:nvSpPr>
        <p:spPr>
          <a:xfrm>
            <a:off x="7016375" y="-1615175"/>
            <a:ext cx="1633483" cy="5920031"/>
          </a:xfrm>
          <a:custGeom>
            <a:rect b="b" l="l" r="r" t="t"/>
            <a:pathLst>
              <a:path extrusionOk="0" h="65507" w="18075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714" name="Google Shape;714;p27"/>
          <p:cNvGrpSpPr/>
          <p:nvPr/>
        </p:nvGrpSpPr>
        <p:grpSpPr>
          <a:xfrm flipH="1" rot="10800000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15" name="Google Shape;715;p27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6" name="Google Shape;716;p27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17" name="Google Shape;717;p27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8" name="Google Shape;718;p27"/>
          <p:cNvGrpSpPr/>
          <p:nvPr/>
        </p:nvGrpSpPr>
        <p:grpSpPr>
          <a:xfrm flipH="1" rot="-5400000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19" name="Google Shape;719;p27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0" name="Google Shape;720;p27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21" name="Google Shape;721;p27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2" name="Google Shape;722;p27"/>
          <p:cNvSpPr/>
          <p:nvPr/>
        </p:nvSpPr>
        <p:spPr>
          <a:xfrm rot="-5400000">
            <a:off x="5572485" y="-2452153"/>
            <a:ext cx="1971347" cy="6005438"/>
          </a:xfrm>
          <a:custGeom>
            <a:rect b="b" l="l" r="r" t="t"/>
            <a:pathLst>
              <a:path extrusionOk="0" h="191668" w="62917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723" name="Google Shape;723;p27"/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724" name="Google Shape;724;p27"/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7"/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7"/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7" name="Google Shape;727;p27"/>
          <p:cNvSpPr txBox="1"/>
          <p:nvPr>
            <p:ph idx="2" type="title"/>
          </p:nvPr>
        </p:nvSpPr>
        <p:spPr>
          <a:xfrm>
            <a:off x="4453200" y="2325725"/>
            <a:ext cx="1343100" cy="98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8"/>
          <p:cNvSpPr txBox="1"/>
          <p:nvPr>
            <p:ph type="title"/>
          </p:nvPr>
        </p:nvSpPr>
        <p:spPr>
          <a:xfrm>
            <a:off x="789175" y="315975"/>
            <a:ext cx="7704000" cy="5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GIVING STRUCTURE TO THE VOICE OF PATIENTS</a:t>
            </a:r>
            <a:endParaRPr sz="1800"/>
          </a:p>
        </p:txBody>
      </p:sp>
      <p:sp>
        <p:nvSpPr>
          <p:cNvPr id="733" name="Google Shape;733;p28"/>
          <p:cNvSpPr txBox="1"/>
          <p:nvPr>
            <p:ph idx="2" type="subTitle"/>
          </p:nvPr>
        </p:nvSpPr>
        <p:spPr>
          <a:xfrm>
            <a:off x="659700" y="1370100"/>
            <a:ext cx="8372700" cy="285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Repertorio transforms the </a:t>
            </a:r>
            <a:r>
              <a:rPr i="1" lang="en" sz="1800">
                <a:latin typeface="Raleway Medium"/>
                <a:ea typeface="Raleway Medium"/>
                <a:cs typeface="Raleway Medium"/>
                <a:sym typeface="Raleway Medium"/>
              </a:rPr>
              <a:t>voice of the patient</a:t>
            </a: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 into </a:t>
            </a:r>
            <a:r>
              <a:rPr b="1" lang="en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STRUCTURED EVIDENCE</a:t>
            </a: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  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i="1" lang="en" sz="1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Supporting</a:t>
            </a:r>
            <a:r>
              <a:rPr i="1" lang="en" sz="1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:</a:t>
            </a:r>
            <a:endParaRPr i="1" sz="1800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 Clinical research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Pharmaceutical R&amp;D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Market access strategies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9"/>
          <p:cNvSpPr/>
          <p:nvPr/>
        </p:nvSpPr>
        <p:spPr>
          <a:xfrm>
            <a:off x="4721925" y="1400050"/>
            <a:ext cx="3522600" cy="2802300"/>
          </a:xfrm>
          <a:prstGeom prst="rect">
            <a:avLst/>
          </a:prstGeom>
          <a:solidFill>
            <a:srgbClr val="0E2A47">
              <a:alpha val="200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9" name="Google Shape;739;p29"/>
          <p:cNvSpPr/>
          <p:nvPr/>
        </p:nvSpPr>
        <p:spPr>
          <a:xfrm>
            <a:off x="876400" y="1400050"/>
            <a:ext cx="3522600" cy="2802300"/>
          </a:xfrm>
          <a:prstGeom prst="rect">
            <a:avLst/>
          </a:prstGeom>
          <a:solidFill>
            <a:srgbClr val="0E2A47">
              <a:alpha val="200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40" name="Google Shape;740;p29"/>
          <p:cNvSpPr txBox="1"/>
          <p:nvPr>
            <p:ph type="title"/>
          </p:nvPr>
        </p:nvSpPr>
        <p:spPr>
          <a:xfrm>
            <a:off x="720000" y="4911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 SemiBold"/>
                <a:ea typeface="Raleway SemiBold"/>
                <a:cs typeface="Raleway SemiBold"/>
                <a:sym typeface="Raleway SemiBold"/>
              </a:rPr>
              <a:t>THE CHALLENGES</a:t>
            </a:r>
            <a:endParaRPr sz="1800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741" name="Google Shape;741;p29"/>
          <p:cNvSpPr txBox="1"/>
          <p:nvPr>
            <p:ph idx="1" type="subTitle"/>
          </p:nvPr>
        </p:nvSpPr>
        <p:spPr>
          <a:xfrm>
            <a:off x="997900" y="2630575"/>
            <a:ext cx="3279600" cy="12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aleway Medium"/>
                <a:ea typeface="Raleway Medium"/>
                <a:cs typeface="Raleway Medium"/>
                <a:sym typeface="Raleway Medium"/>
              </a:rPr>
              <a:t>Critical healthcare evidence is widely scattered across isolated studies, creating disconnected data silos</a:t>
            </a:r>
            <a:endParaRPr sz="15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42" name="Google Shape;742;p29"/>
          <p:cNvSpPr txBox="1"/>
          <p:nvPr>
            <p:ph idx="3" type="subTitle"/>
          </p:nvPr>
        </p:nvSpPr>
        <p:spPr>
          <a:xfrm>
            <a:off x="4887825" y="2630575"/>
            <a:ext cx="3190800" cy="12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aleway Medium"/>
                <a:ea typeface="Raleway Medium"/>
                <a:cs typeface="Raleway Medium"/>
                <a:sym typeface="Raleway Medium"/>
              </a:rPr>
              <a:t>Different terms and formats limit the meaningful integration of heterogeneous data sources.</a:t>
            </a:r>
            <a:endParaRPr sz="15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43" name="Google Shape;743;p29"/>
          <p:cNvSpPr txBox="1"/>
          <p:nvPr>
            <p:ph idx="6" type="subTitle"/>
          </p:nvPr>
        </p:nvSpPr>
        <p:spPr>
          <a:xfrm>
            <a:off x="4901075" y="2256475"/>
            <a:ext cx="3279600" cy="3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 SemiBold"/>
                <a:ea typeface="Raleway SemiBold"/>
                <a:cs typeface="Raleway SemiBold"/>
                <a:sym typeface="Raleway SemiBold"/>
              </a:rPr>
              <a:t>SEMANTIC INCONSISTENCY</a:t>
            </a:r>
            <a:endParaRPr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744" name="Google Shape;744;p29"/>
          <p:cNvGrpSpPr/>
          <p:nvPr/>
        </p:nvGrpSpPr>
        <p:grpSpPr>
          <a:xfrm>
            <a:off x="6339374" y="1557868"/>
            <a:ext cx="403007" cy="480311"/>
            <a:chOff x="4801988" y="3797375"/>
            <a:chExt cx="289600" cy="345150"/>
          </a:xfrm>
        </p:grpSpPr>
        <p:sp>
          <p:nvSpPr>
            <p:cNvPr id="745" name="Google Shape;745;p29"/>
            <p:cNvSpPr/>
            <p:nvPr/>
          </p:nvSpPr>
          <p:spPr>
            <a:xfrm>
              <a:off x="4916238" y="3885675"/>
              <a:ext cx="60825" cy="60775"/>
            </a:xfrm>
            <a:custGeom>
              <a:rect b="b" l="l" r="r" t="t"/>
              <a:pathLst>
                <a:path extrusionOk="0" h="2431" w="2433">
                  <a:moveTo>
                    <a:pt x="1215" y="806"/>
                  </a:moveTo>
                  <a:cubicBezTo>
                    <a:pt x="1436" y="806"/>
                    <a:pt x="1613" y="994"/>
                    <a:pt x="1613" y="1215"/>
                  </a:cubicBezTo>
                  <a:cubicBezTo>
                    <a:pt x="1613" y="1437"/>
                    <a:pt x="1436" y="1614"/>
                    <a:pt x="1215" y="1614"/>
                  </a:cubicBezTo>
                  <a:cubicBezTo>
                    <a:pt x="993" y="1614"/>
                    <a:pt x="805" y="1437"/>
                    <a:pt x="805" y="1215"/>
                  </a:cubicBezTo>
                  <a:cubicBezTo>
                    <a:pt x="805" y="994"/>
                    <a:pt x="993" y="806"/>
                    <a:pt x="1215" y="806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1"/>
                    <a:pt x="0" y="1215"/>
                  </a:cubicBezTo>
                  <a:cubicBezTo>
                    <a:pt x="0" y="1883"/>
                    <a:pt x="539" y="2430"/>
                    <a:pt x="1215" y="2430"/>
                  </a:cubicBezTo>
                  <a:cubicBezTo>
                    <a:pt x="1882" y="2430"/>
                    <a:pt x="2432" y="1883"/>
                    <a:pt x="2432" y="1215"/>
                  </a:cubicBezTo>
                  <a:cubicBezTo>
                    <a:pt x="2432" y="551"/>
                    <a:pt x="1882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7225" lIns="127225" spcFirstLastPara="1" rIns="127225" wrap="square" tIns="127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48">
                <a:solidFill>
                  <a:schemeClr val="lt1"/>
                </a:solidFill>
              </a:endParaRPr>
            </a:p>
          </p:txBody>
        </p:sp>
        <p:sp>
          <p:nvSpPr>
            <p:cNvPr id="746" name="Google Shape;746;p29"/>
            <p:cNvSpPr/>
            <p:nvPr/>
          </p:nvSpPr>
          <p:spPr>
            <a:xfrm>
              <a:off x="4801988" y="3797375"/>
              <a:ext cx="289600" cy="345150"/>
            </a:xfrm>
            <a:custGeom>
              <a:rect b="b" l="l" r="r" t="t"/>
              <a:pathLst>
                <a:path extrusionOk="0" h="13806" w="11584">
                  <a:moveTo>
                    <a:pt x="10731" y="11643"/>
                  </a:moveTo>
                  <a:cubicBezTo>
                    <a:pt x="10579" y="12288"/>
                    <a:pt x="10074" y="12801"/>
                    <a:pt x="9432" y="12953"/>
                  </a:cubicBezTo>
                  <a:lnTo>
                    <a:pt x="9432" y="11643"/>
                  </a:lnTo>
                  <a:close/>
                  <a:moveTo>
                    <a:pt x="10111" y="809"/>
                  </a:moveTo>
                  <a:cubicBezTo>
                    <a:pt x="10472" y="809"/>
                    <a:pt x="10775" y="1112"/>
                    <a:pt x="10775" y="1488"/>
                  </a:cubicBezTo>
                  <a:lnTo>
                    <a:pt x="10775" y="10838"/>
                  </a:lnTo>
                  <a:lnTo>
                    <a:pt x="9022" y="10838"/>
                  </a:lnTo>
                  <a:cubicBezTo>
                    <a:pt x="8801" y="10838"/>
                    <a:pt x="8627" y="11026"/>
                    <a:pt x="8627" y="11247"/>
                  </a:cubicBezTo>
                  <a:lnTo>
                    <a:pt x="8627" y="13001"/>
                  </a:lnTo>
                  <a:lnTo>
                    <a:pt x="1473" y="13001"/>
                  </a:lnTo>
                  <a:cubicBezTo>
                    <a:pt x="1111" y="13001"/>
                    <a:pt x="805" y="12695"/>
                    <a:pt x="805" y="12322"/>
                  </a:cubicBezTo>
                  <a:lnTo>
                    <a:pt x="805" y="1488"/>
                  </a:lnTo>
                  <a:cubicBezTo>
                    <a:pt x="805" y="1112"/>
                    <a:pt x="1111" y="809"/>
                    <a:pt x="1473" y="809"/>
                  </a:cubicBezTo>
                  <a:close/>
                  <a:moveTo>
                    <a:pt x="1473" y="1"/>
                  </a:moveTo>
                  <a:cubicBezTo>
                    <a:pt x="654" y="1"/>
                    <a:pt x="0" y="669"/>
                    <a:pt x="0" y="1488"/>
                  </a:cubicBezTo>
                  <a:lnTo>
                    <a:pt x="0" y="12322"/>
                  </a:lnTo>
                  <a:cubicBezTo>
                    <a:pt x="0" y="13141"/>
                    <a:pt x="654" y="13806"/>
                    <a:pt x="1473" y="13806"/>
                  </a:cubicBezTo>
                  <a:lnTo>
                    <a:pt x="9022" y="13806"/>
                  </a:lnTo>
                  <a:cubicBezTo>
                    <a:pt x="10439" y="13806"/>
                    <a:pt x="11583" y="12661"/>
                    <a:pt x="11583" y="11247"/>
                  </a:cubicBezTo>
                  <a:lnTo>
                    <a:pt x="11583" y="1488"/>
                  </a:lnTo>
                  <a:cubicBezTo>
                    <a:pt x="11583" y="669"/>
                    <a:pt x="10930" y="1"/>
                    <a:pt x="10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7225" lIns="127225" spcFirstLastPara="1" rIns="127225" wrap="square" tIns="127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48">
                <a:solidFill>
                  <a:schemeClr val="lt1"/>
                </a:solidFill>
              </a:endParaRPr>
            </a:p>
          </p:txBody>
        </p:sp>
        <p:sp>
          <p:nvSpPr>
            <p:cNvPr id="747" name="Google Shape;747;p29"/>
            <p:cNvSpPr/>
            <p:nvPr/>
          </p:nvSpPr>
          <p:spPr>
            <a:xfrm>
              <a:off x="4841688" y="3838625"/>
              <a:ext cx="210125" cy="269500"/>
            </a:xfrm>
            <a:custGeom>
              <a:rect b="b" l="l" r="r" t="t"/>
              <a:pathLst>
                <a:path extrusionOk="0" h="10780" w="8405">
                  <a:moveTo>
                    <a:pt x="4477" y="805"/>
                  </a:moveTo>
                  <a:lnTo>
                    <a:pt x="4503" y="1122"/>
                  </a:lnTo>
                  <a:cubicBezTo>
                    <a:pt x="4503" y="1263"/>
                    <a:pt x="4606" y="1392"/>
                    <a:pt x="4735" y="1437"/>
                  </a:cubicBezTo>
                  <a:cubicBezTo>
                    <a:pt x="4957" y="1507"/>
                    <a:pt x="5167" y="1625"/>
                    <a:pt x="5344" y="1776"/>
                  </a:cubicBezTo>
                  <a:cubicBezTo>
                    <a:pt x="5412" y="1839"/>
                    <a:pt x="5506" y="1873"/>
                    <a:pt x="5600" y="1873"/>
                  </a:cubicBezTo>
                  <a:cubicBezTo>
                    <a:pt x="5665" y="1873"/>
                    <a:pt x="5730" y="1857"/>
                    <a:pt x="5787" y="1824"/>
                  </a:cubicBezTo>
                  <a:lnTo>
                    <a:pt x="6031" y="1695"/>
                  </a:lnTo>
                  <a:lnTo>
                    <a:pt x="6326" y="2197"/>
                  </a:lnTo>
                  <a:lnTo>
                    <a:pt x="6057" y="2374"/>
                  </a:lnTo>
                  <a:cubicBezTo>
                    <a:pt x="5939" y="2455"/>
                    <a:pt x="5880" y="2595"/>
                    <a:pt x="5905" y="2736"/>
                  </a:cubicBezTo>
                  <a:cubicBezTo>
                    <a:pt x="5939" y="2853"/>
                    <a:pt x="5950" y="2980"/>
                    <a:pt x="5950" y="3097"/>
                  </a:cubicBezTo>
                  <a:cubicBezTo>
                    <a:pt x="5950" y="3215"/>
                    <a:pt x="5939" y="3344"/>
                    <a:pt x="5905" y="3459"/>
                  </a:cubicBezTo>
                  <a:cubicBezTo>
                    <a:pt x="5880" y="3600"/>
                    <a:pt x="5939" y="3740"/>
                    <a:pt x="6057" y="3821"/>
                  </a:cubicBezTo>
                  <a:lnTo>
                    <a:pt x="6326" y="3998"/>
                  </a:lnTo>
                  <a:lnTo>
                    <a:pt x="6031" y="4489"/>
                  </a:lnTo>
                  <a:lnTo>
                    <a:pt x="5751" y="4349"/>
                  </a:lnTo>
                  <a:cubicBezTo>
                    <a:pt x="5701" y="4321"/>
                    <a:pt x="5647" y="4308"/>
                    <a:pt x="5593" y="4308"/>
                  </a:cubicBezTo>
                  <a:cubicBezTo>
                    <a:pt x="5511" y="4308"/>
                    <a:pt x="5429" y="4339"/>
                    <a:pt x="5367" y="4396"/>
                  </a:cubicBezTo>
                  <a:cubicBezTo>
                    <a:pt x="5190" y="4559"/>
                    <a:pt x="4994" y="4677"/>
                    <a:pt x="4769" y="4747"/>
                  </a:cubicBezTo>
                  <a:cubicBezTo>
                    <a:pt x="4618" y="4803"/>
                    <a:pt x="4503" y="4943"/>
                    <a:pt x="4503" y="5109"/>
                  </a:cubicBezTo>
                  <a:lnTo>
                    <a:pt x="4477" y="5389"/>
                  </a:lnTo>
                  <a:lnTo>
                    <a:pt x="3905" y="5389"/>
                  </a:lnTo>
                  <a:lnTo>
                    <a:pt x="3894" y="5061"/>
                  </a:lnTo>
                  <a:cubicBezTo>
                    <a:pt x="3883" y="4921"/>
                    <a:pt x="3787" y="4803"/>
                    <a:pt x="3647" y="4758"/>
                  </a:cubicBezTo>
                  <a:cubicBezTo>
                    <a:pt x="3425" y="4688"/>
                    <a:pt x="3226" y="4570"/>
                    <a:pt x="3052" y="4419"/>
                  </a:cubicBezTo>
                  <a:cubicBezTo>
                    <a:pt x="2976" y="4356"/>
                    <a:pt x="2884" y="4322"/>
                    <a:pt x="2789" y="4322"/>
                  </a:cubicBezTo>
                  <a:cubicBezTo>
                    <a:pt x="2724" y="4322"/>
                    <a:pt x="2658" y="4338"/>
                    <a:pt x="2595" y="4371"/>
                  </a:cubicBezTo>
                  <a:lnTo>
                    <a:pt x="2351" y="4489"/>
                  </a:lnTo>
                  <a:lnTo>
                    <a:pt x="2070" y="3998"/>
                  </a:lnTo>
                  <a:lnTo>
                    <a:pt x="2340" y="3821"/>
                  </a:lnTo>
                  <a:cubicBezTo>
                    <a:pt x="2455" y="3740"/>
                    <a:pt x="2514" y="3600"/>
                    <a:pt x="2480" y="3459"/>
                  </a:cubicBezTo>
                  <a:cubicBezTo>
                    <a:pt x="2455" y="3344"/>
                    <a:pt x="2443" y="3215"/>
                    <a:pt x="2443" y="3097"/>
                  </a:cubicBezTo>
                  <a:cubicBezTo>
                    <a:pt x="2443" y="2980"/>
                    <a:pt x="2455" y="2853"/>
                    <a:pt x="2480" y="2736"/>
                  </a:cubicBezTo>
                  <a:cubicBezTo>
                    <a:pt x="2514" y="2595"/>
                    <a:pt x="2455" y="2455"/>
                    <a:pt x="2340" y="2374"/>
                  </a:cubicBezTo>
                  <a:lnTo>
                    <a:pt x="2070" y="2197"/>
                  </a:lnTo>
                  <a:lnTo>
                    <a:pt x="2351" y="1695"/>
                  </a:lnTo>
                  <a:lnTo>
                    <a:pt x="2643" y="1846"/>
                  </a:lnTo>
                  <a:cubicBezTo>
                    <a:pt x="2694" y="1874"/>
                    <a:pt x="2749" y="1887"/>
                    <a:pt x="2803" y="1887"/>
                  </a:cubicBezTo>
                  <a:cubicBezTo>
                    <a:pt x="2885" y="1887"/>
                    <a:pt x="2966" y="1857"/>
                    <a:pt x="3030" y="1801"/>
                  </a:cubicBezTo>
                  <a:cubicBezTo>
                    <a:pt x="3204" y="1625"/>
                    <a:pt x="3414" y="1507"/>
                    <a:pt x="3647" y="1425"/>
                  </a:cubicBezTo>
                  <a:cubicBezTo>
                    <a:pt x="3787" y="1392"/>
                    <a:pt x="3883" y="1263"/>
                    <a:pt x="3894" y="1122"/>
                  </a:cubicBezTo>
                  <a:lnTo>
                    <a:pt x="3905" y="805"/>
                  </a:lnTo>
                  <a:close/>
                  <a:moveTo>
                    <a:pt x="1229" y="7002"/>
                  </a:moveTo>
                  <a:cubicBezTo>
                    <a:pt x="1450" y="7002"/>
                    <a:pt x="1638" y="7188"/>
                    <a:pt x="1638" y="7412"/>
                  </a:cubicBezTo>
                  <a:cubicBezTo>
                    <a:pt x="1638" y="7634"/>
                    <a:pt x="1450" y="7808"/>
                    <a:pt x="1229" y="7808"/>
                  </a:cubicBezTo>
                  <a:cubicBezTo>
                    <a:pt x="1007" y="7808"/>
                    <a:pt x="819" y="7634"/>
                    <a:pt x="819" y="7412"/>
                  </a:cubicBezTo>
                  <a:cubicBezTo>
                    <a:pt x="819" y="7188"/>
                    <a:pt x="1007" y="7002"/>
                    <a:pt x="1229" y="7002"/>
                  </a:cubicBezTo>
                  <a:close/>
                  <a:moveTo>
                    <a:pt x="7154" y="7002"/>
                  </a:moveTo>
                  <a:cubicBezTo>
                    <a:pt x="7389" y="7002"/>
                    <a:pt x="7563" y="7188"/>
                    <a:pt x="7563" y="7412"/>
                  </a:cubicBezTo>
                  <a:cubicBezTo>
                    <a:pt x="7563" y="7634"/>
                    <a:pt x="7389" y="7808"/>
                    <a:pt x="7154" y="7808"/>
                  </a:cubicBezTo>
                  <a:cubicBezTo>
                    <a:pt x="6932" y="7808"/>
                    <a:pt x="6758" y="7634"/>
                    <a:pt x="6758" y="7412"/>
                  </a:cubicBezTo>
                  <a:cubicBezTo>
                    <a:pt x="6758" y="7188"/>
                    <a:pt x="6932" y="7002"/>
                    <a:pt x="7154" y="7002"/>
                  </a:cubicBezTo>
                  <a:close/>
                  <a:moveTo>
                    <a:pt x="4197" y="9165"/>
                  </a:moveTo>
                  <a:cubicBezTo>
                    <a:pt x="4418" y="9165"/>
                    <a:pt x="4595" y="9339"/>
                    <a:pt x="4595" y="9561"/>
                  </a:cubicBezTo>
                  <a:cubicBezTo>
                    <a:pt x="4595" y="9782"/>
                    <a:pt x="4418" y="9970"/>
                    <a:pt x="4197" y="9970"/>
                  </a:cubicBezTo>
                  <a:cubicBezTo>
                    <a:pt x="3975" y="9970"/>
                    <a:pt x="3787" y="9782"/>
                    <a:pt x="3787" y="9561"/>
                  </a:cubicBezTo>
                  <a:cubicBezTo>
                    <a:pt x="3787" y="9339"/>
                    <a:pt x="3975" y="9165"/>
                    <a:pt x="4197" y="9165"/>
                  </a:cubicBezTo>
                  <a:close/>
                  <a:moveTo>
                    <a:pt x="3532" y="0"/>
                  </a:moveTo>
                  <a:cubicBezTo>
                    <a:pt x="3310" y="0"/>
                    <a:pt x="3134" y="163"/>
                    <a:pt x="3122" y="385"/>
                  </a:cubicBezTo>
                  <a:lnTo>
                    <a:pt x="3111" y="783"/>
                  </a:lnTo>
                  <a:cubicBezTo>
                    <a:pt x="2982" y="842"/>
                    <a:pt x="2864" y="912"/>
                    <a:pt x="2749" y="993"/>
                  </a:cubicBezTo>
                  <a:lnTo>
                    <a:pt x="2385" y="805"/>
                  </a:lnTo>
                  <a:cubicBezTo>
                    <a:pt x="2326" y="773"/>
                    <a:pt x="2263" y="757"/>
                    <a:pt x="2201" y="757"/>
                  </a:cubicBezTo>
                  <a:cubicBezTo>
                    <a:pt x="2064" y="757"/>
                    <a:pt x="1931" y="831"/>
                    <a:pt x="1860" y="960"/>
                  </a:cubicBezTo>
                  <a:lnTo>
                    <a:pt x="1181" y="2127"/>
                  </a:lnTo>
                  <a:cubicBezTo>
                    <a:pt x="1077" y="2315"/>
                    <a:pt x="1136" y="2559"/>
                    <a:pt x="1310" y="2677"/>
                  </a:cubicBezTo>
                  <a:lnTo>
                    <a:pt x="1650" y="2887"/>
                  </a:lnTo>
                  <a:cubicBezTo>
                    <a:pt x="1650" y="2957"/>
                    <a:pt x="1638" y="3027"/>
                    <a:pt x="1638" y="3097"/>
                  </a:cubicBezTo>
                  <a:cubicBezTo>
                    <a:pt x="1638" y="3168"/>
                    <a:pt x="1650" y="3238"/>
                    <a:pt x="1650" y="3308"/>
                  </a:cubicBezTo>
                  <a:lnTo>
                    <a:pt x="1310" y="3518"/>
                  </a:lnTo>
                  <a:cubicBezTo>
                    <a:pt x="1136" y="3636"/>
                    <a:pt x="1077" y="3880"/>
                    <a:pt x="1181" y="4068"/>
                  </a:cubicBezTo>
                  <a:lnTo>
                    <a:pt x="1860" y="5224"/>
                  </a:lnTo>
                  <a:cubicBezTo>
                    <a:pt x="1933" y="5356"/>
                    <a:pt x="2071" y="5430"/>
                    <a:pt x="2211" y="5430"/>
                  </a:cubicBezTo>
                  <a:cubicBezTo>
                    <a:pt x="2270" y="5430"/>
                    <a:pt x="2330" y="5417"/>
                    <a:pt x="2385" y="5389"/>
                  </a:cubicBezTo>
                  <a:lnTo>
                    <a:pt x="2749" y="5201"/>
                  </a:lnTo>
                  <a:cubicBezTo>
                    <a:pt x="2864" y="5283"/>
                    <a:pt x="2982" y="5353"/>
                    <a:pt x="3111" y="5412"/>
                  </a:cubicBezTo>
                  <a:lnTo>
                    <a:pt x="3122" y="5810"/>
                  </a:lnTo>
                  <a:cubicBezTo>
                    <a:pt x="3134" y="6032"/>
                    <a:pt x="3310" y="6194"/>
                    <a:pt x="3532" y="6194"/>
                  </a:cubicBezTo>
                  <a:lnTo>
                    <a:pt x="3801" y="6194"/>
                  </a:lnTo>
                  <a:lnTo>
                    <a:pt x="3801" y="7002"/>
                  </a:lnTo>
                  <a:lnTo>
                    <a:pt x="2385" y="7002"/>
                  </a:lnTo>
                  <a:cubicBezTo>
                    <a:pt x="2216" y="6527"/>
                    <a:pt x="1761" y="6193"/>
                    <a:pt x="1222" y="6193"/>
                  </a:cubicBezTo>
                  <a:cubicBezTo>
                    <a:pt x="1205" y="6193"/>
                    <a:pt x="1187" y="6194"/>
                    <a:pt x="1170" y="6194"/>
                  </a:cubicBezTo>
                  <a:cubicBezTo>
                    <a:pt x="550" y="6231"/>
                    <a:pt x="48" y="6744"/>
                    <a:pt x="25" y="7364"/>
                  </a:cubicBezTo>
                  <a:cubicBezTo>
                    <a:pt x="0" y="8054"/>
                    <a:pt x="550" y="8627"/>
                    <a:pt x="1240" y="8627"/>
                  </a:cubicBezTo>
                  <a:cubicBezTo>
                    <a:pt x="1767" y="8627"/>
                    <a:pt x="2211" y="8287"/>
                    <a:pt x="2385" y="7819"/>
                  </a:cubicBezTo>
                  <a:lnTo>
                    <a:pt x="3801" y="7819"/>
                  </a:lnTo>
                  <a:lnTo>
                    <a:pt x="3801" y="8428"/>
                  </a:lnTo>
                  <a:cubicBezTo>
                    <a:pt x="3310" y="8604"/>
                    <a:pt x="2960" y="9081"/>
                    <a:pt x="2993" y="9631"/>
                  </a:cubicBezTo>
                  <a:cubicBezTo>
                    <a:pt x="3030" y="10251"/>
                    <a:pt x="3532" y="10753"/>
                    <a:pt x="4152" y="10778"/>
                  </a:cubicBezTo>
                  <a:cubicBezTo>
                    <a:pt x="4172" y="10779"/>
                    <a:pt x="4191" y="10780"/>
                    <a:pt x="4211" y="10780"/>
                  </a:cubicBezTo>
                  <a:cubicBezTo>
                    <a:pt x="4872" y="10780"/>
                    <a:pt x="5414" y="10231"/>
                    <a:pt x="5414" y="9561"/>
                  </a:cubicBezTo>
                  <a:cubicBezTo>
                    <a:pt x="5414" y="9036"/>
                    <a:pt x="5075" y="8590"/>
                    <a:pt x="4606" y="8428"/>
                  </a:cubicBezTo>
                  <a:lnTo>
                    <a:pt x="4606" y="7819"/>
                  </a:lnTo>
                  <a:lnTo>
                    <a:pt x="6020" y="7819"/>
                  </a:lnTo>
                  <a:cubicBezTo>
                    <a:pt x="6191" y="8294"/>
                    <a:pt x="6658" y="8628"/>
                    <a:pt x="7186" y="8628"/>
                  </a:cubicBezTo>
                  <a:cubicBezTo>
                    <a:pt x="7203" y="8628"/>
                    <a:pt x="7221" y="8627"/>
                    <a:pt x="7238" y="8627"/>
                  </a:cubicBezTo>
                  <a:cubicBezTo>
                    <a:pt x="7855" y="8590"/>
                    <a:pt x="8360" y="8077"/>
                    <a:pt x="8382" y="7457"/>
                  </a:cubicBezTo>
                  <a:cubicBezTo>
                    <a:pt x="8405" y="6767"/>
                    <a:pt x="7855" y="6194"/>
                    <a:pt x="7168" y="6194"/>
                  </a:cubicBezTo>
                  <a:cubicBezTo>
                    <a:pt x="6640" y="6194"/>
                    <a:pt x="6197" y="6534"/>
                    <a:pt x="6020" y="7002"/>
                  </a:cubicBezTo>
                  <a:lnTo>
                    <a:pt x="4606" y="7002"/>
                  </a:lnTo>
                  <a:lnTo>
                    <a:pt x="4606" y="6194"/>
                  </a:lnTo>
                  <a:lnTo>
                    <a:pt x="4876" y="6194"/>
                  </a:lnTo>
                  <a:cubicBezTo>
                    <a:pt x="5097" y="6194"/>
                    <a:pt x="5274" y="6032"/>
                    <a:pt x="5285" y="5810"/>
                  </a:cubicBezTo>
                  <a:lnTo>
                    <a:pt x="5296" y="5412"/>
                  </a:lnTo>
                  <a:cubicBezTo>
                    <a:pt x="5426" y="5353"/>
                    <a:pt x="5541" y="5283"/>
                    <a:pt x="5658" y="5201"/>
                  </a:cubicBezTo>
                  <a:lnTo>
                    <a:pt x="6020" y="5389"/>
                  </a:lnTo>
                  <a:cubicBezTo>
                    <a:pt x="6076" y="5417"/>
                    <a:pt x="6136" y="5430"/>
                    <a:pt x="6195" y="5430"/>
                  </a:cubicBezTo>
                  <a:cubicBezTo>
                    <a:pt x="6335" y="5430"/>
                    <a:pt x="6473" y="5356"/>
                    <a:pt x="6548" y="5224"/>
                  </a:cubicBezTo>
                  <a:lnTo>
                    <a:pt x="7224" y="4068"/>
                  </a:lnTo>
                  <a:cubicBezTo>
                    <a:pt x="7330" y="3880"/>
                    <a:pt x="7271" y="3636"/>
                    <a:pt x="7098" y="3518"/>
                  </a:cubicBezTo>
                  <a:lnTo>
                    <a:pt x="6758" y="3308"/>
                  </a:lnTo>
                  <a:cubicBezTo>
                    <a:pt x="6758" y="3238"/>
                    <a:pt x="6769" y="3168"/>
                    <a:pt x="6769" y="3097"/>
                  </a:cubicBezTo>
                  <a:cubicBezTo>
                    <a:pt x="6769" y="3027"/>
                    <a:pt x="6758" y="2957"/>
                    <a:pt x="6758" y="2887"/>
                  </a:cubicBezTo>
                  <a:lnTo>
                    <a:pt x="7098" y="2677"/>
                  </a:lnTo>
                  <a:cubicBezTo>
                    <a:pt x="7271" y="2559"/>
                    <a:pt x="7330" y="2315"/>
                    <a:pt x="7224" y="2127"/>
                  </a:cubicBezTo>
                  <a:lnTo>
                    <a:pt x="6548" y="960"/>
                  </a:lnTo>
                  <a:cubicBezTo>
                    <a:pt x="6475" y="831"/>
                    <a:pt x="6342" y="757"/>
                    <a:pt x="6205" y="757"/>
                  </a:cubicBezTo>
                  <a:cubicBezTo>
                    <a:pt x="6143" y="757"/>
                    <a:pt x="6079" y="773"/>
                    <a:pt x="6020" y="805"/>
                  </a:cubicBezTo>
                  <a:lnTo>
                    <a:pt x="5658" y="993"/>
                  </a:lnTo>
                  <a:cubicBezTo>
                    <a:pt x="5541" y="912"/>
                    <a:pt x="5426" y="842"/>
                    <a:pt x="5296" y="783"/>
                  </a:cubicBezTo>
                  <a:lnTo>
                    <a:pt x="5285" y="385"/>
                  </a:lnTo>
                  <a:cubicBezTo>
                    <a:pt x="5274" y="163"/>
                    <a:pt x="5097" y="0"/>
                    <a:pt x="4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7225" lIns="127225" spcFirstLastPara="1" rIns="127225" wrap="square" tIns="127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48">
                <a:solidFill>
                  <a:schemeClr val="lt1"/>
                </a:solidFill>
              </a:endParaRPr>
            </a:p>
          </p:txBody>
        </p:sp>
      </p:grpSp>
      <p:grpSp>
        <p:nvGrpSpPr>
          <p:cNvPr id="748" name="Google Shape;748;p29"/>
          <p:cNvGrpSpPr/>
          <p:nvPr/>
        </p:nvGrpSpPr>
        <p:grpSpPr>
          <a:xfrm>
            <a:off x="2350293" y="1557870"/>
            <a:ext cx="482154" cy="480309"/>
            <a:chOff x="1725463" y="2681050"/>
            <a:chExt cx="346325" cy="345000"/>
          </a:xfrm>
        </p:grpSpPr>
        <p:sp>
          <p:nvSpPr>
            <p:cNvPr id="749" name="Google Shape;749;p29"/>
            <p:cNvSpPr/>
            <p:nvPr/>
          </p:nvSpPr>
          <p:spPr>
            <a:xfrm>
              <a:off x="1807588" y="2762650"/>
              <a:ext cx="181800" cy="181800"/>
            </a:xfrm>
            <a:custGeom>
              <a:rect b="b" l="l" r="r" t="t"/>
              <a:pathLst>
                <a:path extrusionOk="0" h="7272" w="7272">
                  <a:moveTo>
                    <a:pt x="6032" y="808"/>
                  </a:moveTo>
                  <a:lnTo>
                    <a:pt x="6464" y="1240"/>
                  </a:lnTo>
                  <a:lnTo>
                    <a:pt x="6464" y="1613"/>
                  </a:lnTo>
                  <a:lnTo>
                    <a:pt x="2418" y="1613"/>
                  </a:lnTo>
                  <a:lnTo>
                    <a:pt x="2418" y="808"/>
                  </a:lnTo>
                  <a:close/>
                  <a:moveTo>
                    <a:pt x="1613" y="808"/>
                  </a:moveTo>
                  <a:lnTo>
                    <a:pt x="1613" y="4851"/>
                  </a:lnTo>
                  <a:lnTo>
                    <a:pt x="805" y="4851"/>
                  </a:lnTo>
                  <a:lnTo>
                    <a:pt x="805" y="1240"/>
                  </a:lnTo>
                  <a:lnTo>
                    <a:pt x="1240" y="808"/>
                  </a:lnTo>
                  <a:close/>
                  <a:moveTo>
                    <a:pt x="4851" y="2421"/>
                  </a:moveTo>
                  <a:lnTo>
                    <a:pt x="4851" y="4851"/>
                  </a:lnTo>
                  <a:lnTo>
                    <a:pt x="2418" y="4851"/>
                  </a:lnTo>
                  <a:lnTo>
                    <a:pt x="2418" y="2421"/>
                  </a:lnTo>
                  <a:close/>
                  <a:moveTo>
                    <a:pt x="4851" y="5659"/>
                  </a:moveTo>
                  <a:lnTo>
                    <a:pt x="4851" y="6464"/>
                  </a:lnTo>
                  <a:lnTo>
                    <a:pt x="1240" y="6464"/>
                  </a:lnTo>
                  <a:lnTo>
                    <a:pt x="805" y="6032"/>
                  </a:lnTo>
                  <a:lnTo>
                    <a:pt x="805" y="5659"/>
                  </a:lnTo>
                  <a:close/>
                  <a:moveTo>
                    <a:pt x="6464" y="2421"/>
                  </a:moveTo>
                  <a:lnTo>
                    <a:pt x="6464" y="6032"/>
                  </a:lnTo>
                  <a:lnTo>
                    <a:pt x="6032" y="6464"/>
                  </a:lnTo>
                  <a:lnTo>
                    <a:pt x="5659" y="6464"/>
                  </a:lnTo>
                  <a:lnTo>
                    <a:pt x="5659" y="2421"/>
                  </a:lnTo>
                  <a:close/>
                  <a:moveTo>
                    <a:pt x="1075" y="0"/>
                  </a:moveTo>
                  <a:cubicBezTo>
                    <a:pt x="960" y="0"/>
                    <a:pt x="864" y="37"/>
                    <a:pt x="783" y="118"/>
                  </a:cubicBezTo>
                  <a:lnTo>
                    <a:pt x="118" y="783"/>
                  </a:lnTo>
                  <a:cubicBezTo>
                    <a:pt x="34" y="867"/>
                    <a:pt x="0" y="960"/>
                    <a:pt x="0" y="1078"/>
                  </a:cubicBezTo>
                  <a:lnTo>
                    <a:pt x="0" y="6197"/>
                  </a:lnTo>
                  <a:cubicBezTo>
                    <a:pt x="0" y="6312"/>
                    <a:pt x="34" y="6408"/>
                    <a:pt x="118" y="6489"/>
                  </a:cubicBezTo>
                  <a:lnTo>
                    <a:pt x="783" y="7154"/>
                  </a:lnTo>
                  <a:cubicBezTo>
                    <a:pt x="864" y="7235"/>
                    <a:pt x="960" y="7272"/>
                    <a:pt x="1075" y="7272"/>
                  </a:cubicBezTo>
                  <a:lnTo>
                    <a:pt x="6206" y="7272"/>
                  </a:lnTo>
                  <a:cubicBezTo>
                    <a:pt x="6312" y="7272"/>
                    <a:pt x="6416" y="7235"/>
                    <a:pt x="6486" y="7154"/>
                  </a:cubicBezTo>
                  <a:lnTo>
                    <a:pt x="7154" y="6489"/>
                  </a:lnTo>
                  <a:cubicBezTo>
                    <a:pt x="7235" y="6408"/>
                    <a:pt x="7272" y="6312"/>
                    <a:pt x="7272" y="6197"/>
                  </a:cubicBezTo>
                  <a:lnTo>
                    <a:pt x="7272" y="1078"/>
                  </a:lnTo>
                  <a:cubicBezTo>
                    <a:pt x="7272" y="960"/>
                    <a:pt x="7235" y="867"/>
                    <a:pt x="7154" y="783"/>
                  </a:cubicBezTo>
                  <a:lnTo>
                    <a:pt x="6486" y="118"/>
                  </a:lnTo>
                  <a:cubicBezTo>
                    <a:pt x="6416" y="37"/>
                    <a:pt x="6312" y="0"/>
                    <a:pt x="6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7300" lIns="127300" spcFirstLastPara="1" rIns="127300" wrap="square" tIns="127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49">
                <a:solidFill>
                  <a:schemeClr val="lt1"/>
                </a:solidFill>
              </a:endParaRPr>
            </a:p>
          </p:txBody>
        </p:sp>
        <p:sp>
          <p:nvSpPr>
            <p:cNvPr id="750" name="Google Shape;750;p29"/>
            <p:cNvSpPr/>
            <p:nvPr/>
          </p:nvSpPr>
          <p:spPr>
            <a:xfrm>
              <a:off x="1725463" y="2681050"/>
              <a:ext cx="346325" cy="345000"/>
            </a:xfrm>
            <a:custGeom>
              <a:rect b="b" l="l" r="r" t="t"/>
              <a:pathLst>
                <a:path extrusionOk="0" h="13800" w="13853">
                  <a:moveTo>
                    <a:pt x="9996" y="2448"/>
                  </a:moveTo>
                  <a:lnTo>
                    <a:pt x="11373" y="3837"/>
                  </a:lnTo>
                  <a:lnTo>
                    <a:pt x="11373" y="9963"/>
                  </a:lnTo>
                  <a:lnTo>
                    <a:pt x="9996" y="11355"/>
                  </a:lnTo>
                  <a:lnTo>
                    <a:pt x="3858" y="11355"/>
                  </a:lnTo>
                  <a:lnTo>
                    <a:pt x="2466" y="9963"/>
                  </a:lnTo>
                  <a:lnTo>
                    <a:pt x="2466" y="3837"/>
                  </a:lnTo>
                  <a:lnTo>
                    <a:pt x="3858" y="2448"/>
                  </a:lnTo>
                  <a:close/>
                  <a:moveTo>
                    <a:pt x="3671" y="0"/>
                  </a:moveTo>
                  <a:cubicBezTo>
                    <a:pt x="3454" y="0"/>
                    <a:pt x="3285" y="186"/>
                    <a:pt x="3285" y="400"/>
                  </a:cubicBezTo>
                  <a:lnTo>
                    <a:pt x="3285" y="1873"/>
                  </a:lnTo>
                  <a:lnTo>
                    <a:pt x="1905" y="3264"/>
                  </a:lnTo>
                  <a:lnTo>
                    <a:pt x="432" y="3264"/>
                  </a:lnTo>
                  <a:cubicBezTo>
                    <a:pt x="222" y="3264"/>
                    <a:pt x="48" y="3416"/>
                    <a:pt x="23" y="3615"/>
                  </a:cubicBezTo>
                  <a:cubicBezTo>
                    <a:pt x="0" y="3862"/>
                    <a:pt x="188" y="4072"/>
                    <a:pt x="421" y="4072"/>
                  </a:cubicBezTo>
                  <a:lnTo>
                    <a:pt x="1661" y="4072"/>
                  </a:lnTo>
                  <a:lnTo>
                    <a:pt x="1661" y="4877"/>
                  </a:lnTo>
                  <a:lnTo>
                    <a:pt x="432" y="4877"/>
                  </a:lnTo>
                  <a:cubicBezTo>
                    <a:pt x="222" y="4877"/>
                    <a:pt x="48" y="5029"/>
                    <a:pt x="23" y="5239"/>
                  </a:cubicBezTo>
                  <a:cubicBezTo>
                    <a:pt x="0" y="5486"/>
                    <a:pt x="188" y="5685"/>
                    <a:pt x="421" y="5685"/>
                  </a:cubicBezTo>
                  <a:lnTo>
                    <a:pt x="1661" y="5685"/>
                  </a:lnTo>
                  <a:lnTo>
                    <a:pt x="1661" y="6490"/>
                  </a:lnTo>
                  <a:lnTo>
                    <a:pt x="432" y="6490"/>
                  </a:lnTo>
                  <a:cubicBezTo>
                    <a:pt x="222" y="6490"/>
                    <a:pt x="48" y="6642"/>
                    <a:pt x="23" y="6852"/>
                  </a:cubicBezTo>
                  <a:cubicBezTo>
                    <a:pt x="0" y="7099"/>
                    <a:pt x="188" y="7310"/>
                    <a:pt x="421" y="7310"/>
                  </a:cubicBezTo>
                  <a:lnTo>
                    <a:pt x="1661" y="7310"/>
                  </a:lnTo>
                  <a:lnTo>
                    <a:pt x="1661" y="8115"/>
                  </a:lnTo>
                  <a:lnTo>
                    <a:pt x="432" y="8115"/>
                  </a:lnTo>
                  <a:cubicBezTo>
                    <a:pt x="222" y="8115"/>
                    <a:pt x="48" y="8269"/>
                    <a:pt x="23" y="8465"/>
                  </a:cubicBezTo>
                  <a:cubicBezTo>
                    <a:pt x="0" y="8712"/>
                    <a:pt x="188" y="8923"/>
                    <a:pt x="421" y="8923"/>
                  </a:cubicBezTo>
                  <a:lnTo>
                    <a:pt x="1661" y="8923"/>
                  </a:lnTo>
                  <a:lnTo>
                    <a:pt x="1661" y="9728"/>
                  </a:lnTo>
                  <a:lnTo>
                    <a:pt x="432" y="9728"/>
                  </a:lnTo>
                  <a:cubicBezTo>
                    <a:pt x="222" y="9728"/>
                    <a:pt x="48" y="9882"/>
                    <a:pt x="23" y="10092"/>
                  </a:cubicBezTo>
                  <a:cubicBezTo>
                    <a:pt x="0" y="10337"/>
                    <a:pt x="188" y="10536"/>
                    <a:pt x="421" y="10536"/>
                  </a:cubicBezTo>
                  <a:lnTo>
                    <a:pt x="1905" y="10536"/>
                  </a:lnTo>
                  <a:lnTo>
                    <a:pt x="3285" y="11927"/>
                  </a:lnTo>
                  <a:lnTo>
                    <a:pt x="3285" y="13389"/>
                  </a:lnTo>
                  <a:cubicBezTo>
                    <a:pt x="3285" y="13599"/>
                    <a:pt x="3437" y="13773"/>
                    <a:pt x="3636" y="13795"/>
                  </a:cubicBezTo>
                  <a:cubicBezTo>
                    <a:pt x="3655" y="13798"/>
                    <a:pt x="3675" y="13800"/>
                    <a:pt x="3694" y="13800"/>
                  </a:cubicBezTo>
                  <a:cubicBezTo>
                    <a:pt x="3912" y="13800"/>
                    <a:pt x="4090" y="13614"/>
                    <a:pt x="4090" y="13400"/>
                  </a:cubicBezTo>
                  <a:lnTo>
                    <a:pt x="4090" y="12160"/>
                  </a:lnTo>
                  <a:lnTo>
                    <a:pt x="4898" y="12160"/>
                  </a:lnTo>
                  <a:lnTo>
                    <a:pt x="4898" y="13389"/>
                  </a:lnTo>
                  <a:cubicBezTo>
                    <a:pt x="4898" y="13599"/>
                    <a:pt x="5050" y="13773"/>
                    <a:pt x="5260" y="13795"/>
                  </a:cubicBezTo>
                  <a:cubicBezTo>
                    <a:pt x="5280" y="13798"/>
                    <a:pt x="5299" y="13800"/>
                    <a:pt x="5318" y="13800"/>
                  </a:cubicBezTo>
                  <a:cubicBezTo>
                    <a:pt x="5537" y="13800"/>
                    <a:pt x="5703" y="13614"/>
                    <a:pt x="5703" y="13400"/>
                  </a:cubicBezTo>
                  <a:lnTo>
                    <a:pt x="5703" y="12160"/>
                  </a:lnTo>
                  <a:lnTo>
                    <a:pt x="6511" y="12160"/>
                  </a:lnTo>
                  <a:lnTo>
                    <a:pt x="6511" y="13389"/>
                  </a:lnTo>
                  <a:cubicBezTo>
                    <a:pt x="6511" y="13599"/>
                    <a:pt x="6663" y="13773"/>
                    <a:pt x="6873" y="13795"/>
                  </a:cubicBezTo>
                  <a:cubicBezTo>
                    <a:pt x="6893" y="13798"/>
                    <a:pt x="6913" y="13800"/>
                    <a:pt x="6932" y="13800"/>
                  </a:cubicBezTo>
                  <a:cubicBezTo>
                    <a:pt x="7152" y="13800"/>
                    <a:pt x="7331" y="13614"/>
                    <a:pt x="7331" y="13400"/>
                  </a:cubicBezTo>
                  <a:lnTo>
                    <a:pt x="7331" y="12160"/>
                  </a:lnTo>
                  <a:lnTo>
                    <a:pt x="8136" y="12160"/>
                  </a:lnTo>
                  <a:lnTo>
                    <a:pt x="8136" y="13389"/>
                  </a:lnTo>
                  <a:cubicBezTo>
                    <a:pt x="8136" y="13599"/>
                    <a:pt x="8287" y="13773"/>
                    <a:pt x="8498" y="13795"/>
                  </a:cubicBezTo>
                  <a:cubicBezTo>
                    <a:pt x="8516" y="13798"/>
                    <a:pt x="8535" y="13800"/>
                    <a:pt x="8554" y="13800"/>
                  </a:cubicBezTo>
                  <a:cubicBezTo>
                    <a:pt x="8766" y="13800"/>
                    <a:pt x="8944" y="13614"/>
                    <a:pt x="8944" y="13400"/>
                  </a:cubicBezTo>
                  <a:lnTo>
                    <a:pt x="8944" y="12160"/>
                  </a:lnTo>
                  <a:lnTo>
                    <a:pt x="9749" y="12160"/>
                  </a:lnTo>
                  <a:lnTo>
                    <a:pt x="9749" y="13389"/>
                  </a:lnTo>
                  <a:cubicBezTo>
                    <a:pt x="9749" y="13599"/>
                    <a:pt x="9900" y="13773"/>
                    <a:pt x="10111" y="13795"/>
                  </a:cubicBezTo>
                  <a:cubicBezTo>
                    <a:pt x="10130" y="13798"/>
                    <a:pt x="10150" y="13800"/>
                    <a:pt x="10169" y="13800"/>
                  </a:cubicBezTo>
                  <a:cubicBezTo>
                    <a:pt x="10388" y="13800"/>
                    <a:pt x="10557" y="13614"/>
                    <a:pt x="10557" y="13400"/>
                  </a:cubicBezTo>
                  <a:lnTo>
                    <a:pt x="10557" y="11927"/>
                  </a:lnTo>
                  <a:lnTo>
                    <a:pt x="11945" y="10536"/>
                  </a:lnTo>
                  <a:lnTo>
                    <a:pt x="13407" y="10536"/>
                  </a:lnTo>
                  <a:cubicBezTo>
                    <a:pt x="13617" y="10536"/>
                    <a:pt x="13794" y="10384"/>
                    <a:pt x="13816" y="10185"/>
                  </a:cubicBezTo>
                  <a:cubicBezTo>
                    <a:pt x="13853" y="9938"/>
                    <a:pt x="13654" y="9728"/>
                    <a:pt x="13418" y="9728"/>
                  </a:cubicBezTo>
                  <a:lnTo>
                    <a:pt x="12181" y="9728"/>
                  </a:lnTo>
                  <a:lnTo>
                    <a:pt x="12181" y="8923"/>
                  </a:lnTo>
                  <a:lnTo>
                    <a:pt x="13407" y="8923"/>
                  </a:lnTo>
                  <a:cubicBezTo>
                    <a:pt x="13617" y="8923"/>
                    <a:pt x="13794" y="8771"/>
                    <a:pt x="13816" y="8561"/>
                  </a:cubicBezTo>
                  <a:cubicBezTo>
                    <a:pt x="13853" y="8314"/>
                    <a:pt x="13654" y="8115"/>
                    <a:pt x="13418" y="8115"/>
                  </a:cubicBezTo>
                  <a:lnTo>
                    <a:pt x="12181" y="8115"/>
                  </a:lnTo>
                  <a:lnTo>
                    <a:pt x="12181" y="7310"/>
                  </a:lnTo>
                  <a:lnTo>
                    <a:pt x="13407" y="7310"/>
                  </a:lnTo>
                  <a:cubicBezTo>
                    <a:pt x="13617" y="7310"/>
                    <a:pt x="13794" y="7158"/>
                    <a:pt x="13816" y="6948"/>
                  </a:cubicBezTo>
                  <a:cubicBezTo>
                    <a:pt x="13853" y="6701"/>
                    <a:pt x="13654" y="6490"/>
                    <a:pt x="13418" y="6490"/>
                  </a:cubicBezTo>
                  <a:lnTo>
                    <a:pt x="12181" y="6490"/>
                  </a:lnTo>
                  <a:lnTo>
                    <a:pt x="12181" y="5685"/>
                  </a:lnTo>
                  <a:lnTo>
                    <a:pt x="13407" y="5685"/>
                  </a:lnTo>
                  <a:cubicBezTo>
                    <a:pt x="13617" y="5685"/>
                    <a:pt x="13794" y="5534"/>
                    <a:pt x="13816" y="5335"/>
                  </a:cubicBezTo>
                  <a:cubicBezTo>
                    <a:pt x="13853" y="5088"/>
                    <a:pt x="13654" y="4877"/>
                    <a:pt x="13418" y="4877"/>
                  </a:cubicBezTo>
                  <a:lnTo>
                    <a:pt x="12181" y="4877"/>
                  </a:lnTo>
                  <a:lnTo>
                    <a:pt x="12181" y="4072"/>
                  </a:lnTo>
                  <a:lnTo>
                    <a:pt x="13407" y="4072"/>
                  </a:lnTo>
                  <a:cubicBezTo>
                    <a:pt x="13617" y="4072"/>
                    <a:pt x="13794" y="3921"/>
                    <a:pt x="13816" y="3710"/>
                  </a:cubicBezTo>
                  <a:cubicBezTo>
                    <a:pt x="13853" y="3463"/>
                    <a:pt x="13654" y="3264"/>
                    <a:pt x="13418" y="3264"/>
                  </a:cubicBezTo>
                  <a:lnTo>
                    <a:pt x="11945" y="3264"/>
                  </a:lnTo>
                  <a:lnTo>
                    <a:pt x="10557" y="1873"/>
                  </a:lnTo>
                  <a:lnTo>
                    <a:pt x="10557" y="414"/>
                  </a:lnTo>
                  <a:cubicBezTo>
                    <a:pt x="10557" y="204"/>
                    <a:pt x="10402" y="27"/>
                    <a:pt x="10206" y="5"/>
                  </a:cubicBezTo>
                  <a:cubicBezTo>
                    <a:pt x="10186" y="2"/>
                    <a:pt x="10167" y="0"/>
                    <a:pt x="10147" y="0"/>
                  </a:cubicBezTo>
                  <a:cubicBezTo>
                    <a:pt x="9927" y="0"/>
                    <a:pt x="9749" y="186"/>
                    <a:pt x="9749" y="400"/>
                  </a:cubicBezTo>
                  <a:lnTo>
                    <a:pt x="9749" y="1640"/>
                  </a:lnTo>
                  <a:lnTo>
                    <a:pt x="8944" y="1640"/>
                  </a:lnTo>
                  <a:lnTo>
                    <a:pt x="8944" y="414"/>
                  </a:lnTo>
                  <a:cubicBezTo>
                    <a:pt x="8944" y="204"/>
                    <a:pt x="8789" y="27"/>
                    <a:pt x="8579" y="5"/>
                  </a:cubicBezTo>
                  <a:cubicBezTo>
                    <a:pt x="8560" y="2"/>
                    <a:pt x="8542" y="0"/>
                    <a:pt x="8523" y="0"/>
                  </a:cubicBezTo>
                  <a:cubicBezTo>
                    <a:pt x="8314" y="0"/>
                    <a:pt x="8136" y="186"/>
                    <a:pt x="8136" y="400"/>
                  </a:cubicBezTo>
                  <a:lnTo>
                    <a:pt x="8136" y="1640"/>
                  </a:lnTo>
                  <a:lnTo>
                    <a:pt x="7331" y="1640"/>
                  </a:lnTo>
                  <a:lnTo>
                    <a:pt x="7331" y="414"/>
                  </a:lnTo>
                  <a:cubicBezTo>
                    <a:pt x="7331" y="204"/>
                    <a:pt x="7176" y="27"/>
                    <a:pt x="6966" y="5"/>
                  </a:cubicBezTo>
                  <a:cubicBezTo>
                    <a:pt x="6946" y="2"/>
                    <a:pt x="6927" y="0"/>
                    <a:pt x="6908" y="0"/>
                  </a:cubicBezTo>
                  <a:cubicBezTo>
                    <a:pt x="6689" y="0"/>
                    <a:pt x="6511" y="186"/>
                    <a:pt x="6511" y="400"/>
                  </a:cubicBezTo>
                  <a:lnTo>
                    <a:pt x="6511" y="1640"/>
                  </a:lnTo>
                  <a:lnTo>
                    <a:pt x="5703" y="1640"/>
                  </a:lnTo>
                  <a:lnTo>
                    <a:pt x="5703" y="414"/>
                  </a:lnTo>
                  <a:cubicBezTo>
                    <a:pt x="5703" y="204"/>
                    <a:pt x="5552" y="27"/>
                    <a:pt x="5353" y="5"/>
                  </a:cubicBezTo>
                  <a:cubicBezTo>
                    <a:pt x="5333" y="2"/>
                    <a:pt x="5314" y="0"/>
                    <a:pt x="5295" y="0"/>
                  </a:cubicBezTo>
                  <a:cubicBezTo>
                    <a:pt x="5076" y="0"/>
                    <a:pt x="4898" y="186"/>
                    <a:pt x="4898" y="400"/>
                  </a:cubicBezTo>
                  <a:lnTo>
                    <a:pt x="4898" y="1640"/>
                  </a:lnTo>
                  <a:lnTo>
                    <a:pt x="4090" y="1640"/>
                  </a:lnTo>
                  <a:lnTo>
                    <a:pt x="4090" y="414"/>
                  </a:lnTo>
                  <a:cubicBezTo>
                    <a:pt x="4090" y="204"/>
                    <a:pt x="3939" y="27"/>
                    <a:pt x="3728" y="5"/>
                  </a:cubicBezTo>
                  <a:cubicBezTo>
                    <a:pt x="3709" y="2"/>
                    <a:pt x="3690" y="0"/>
                    <a:pt x="3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7300" lIns="127300" spcFirstLastPara="1" rIns="127300" wrap="square" tIns="127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49">
                <a:solidFill>
                  <a:schemeClr val="lt1"/>
                </a:solidFill>
              </a:endParaRPr>
            </a:p>
          </p:txBody>
        </p:sp>
      </p:grpSp>
      <p:sp>
        <p:nvSpPr>
          <p:cNvPr id="751" name="Google Shape;751;p29"/>
          <p:cNvSpPr txBox="1"/>
          <p:nvPr>
            <p:ph idx="6" type="subTitle"/>
          </p:nvPr>
        </p:nvSpPr>
        <p:spPr>
          <a:xfrm>
            <a:off x="1210898" y="2150275"/>
            <a:ext cx="2853600" cy="4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 SemiBold"/>
                <a:ea typeface="Raleway SemiBold"/>
                <a:cs typeface="Raleway SemiBold"/>
                <a:sym typeface="Raleway SemiBold"/>
              </a:rPr>
              <a:t>DATA FRAGMENTATION</a:t>
            </a:r>
            <a:endParaRPr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0"/>
          <p:cNvSpPr txBox="1"/>
          <p:nvPr>
            <p:ph type="title"/>
          </p:nvPr>
        </p:nvSpPr>
        <p:spPr>
          <a:xfrm>
            <a:off x="720000" y="514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FROM PATIENT EVIDENCE TO BETTER DECISIONS</a:t>
            </a:r>
            <a:endParaRPr sz="1800"/>
          </a:p>
        </p:txBody>
      </p:sp>
      <p:sp>
        <p:nvSpPr>
          <p:cNvPr id="757" name="Google Shape;757;p30"/>
          <p:cNvSpPr txBox="1"/>
          <p:nvPr>
            <p:ph idx="1" type="subTitle"/>
          </p:nvPr>
        </p:nvSpPr>
        <p:spPr>
          <a:xfrm>
            <a:off x="953550" y="1405925"/>
            <a:ext cx="7236900" cy="99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  <a:t>Repertorio generates </a:t>
            </a:r>
            <a:r>
              <a:rPr b="1" lang="en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Quantified Evidence</a:t>
            </a:r>
            <a: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  <a:t> to support regulators, pharma, and researchers in key decisions.</a:t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58" name="Google Shape;758;p30"/>
          <p:cNvSpPr/>
          <p:nvPr/>
        </p:nvSpPr>
        <p:spPr>
          <a:xfrm>
            <a:off x="757341" y="2571750"/>
            <a:ext cx="2577600" cy="1808400"/>
          </a:xfrm>
          <a:prstGeom prst="rect">
            <a:avLst/>
          </a:prstGeom>
          <a:solidFill>
            <a:srgbClr val="0E2A47">
              <a:alpha val="200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RISK-BENEFIT TRADE-OFFS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Optimizing clinical outcomes against safety profiles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759" name="Google Shape;759;p30"/>
          <p:cNvGrpSpPr/>
          <p:nvPr/>
        </p:nvGrpSpPr>
        <p:grpSpPr>
          <a:xfrm>
            <a:off x="1891926" y="2722435"/>
            <a:ext cx="364654" cy="349920"/>
            <a:chOff x="-62150375" y="2664925"/>
            <a:chExt cx="316650" cy="318225"/>
          </a:xfrm>
        </p:grpSpPr>
        <p:sp>
          <p:nvSpPr>
            <p:cNvPr id="760" name="Google Shape;760;p30"/>
            <p:cNvSpPr/>
            <p:nvPr/>
          </p:nvSpPr>
          <p:spPr>
            <a:xfrm>
              <a:off x="-62150375" y="2961850"/>
              <a:ext cx="316650" cy="21300"/>
            </a:xfrm>
            <a:custGeom>
              <a:rect b="b" l="l" r="r" t="t"/>
              <a:pathLst>
                <a:path extrusionOk="0" h="852" w="12666">
                  <a:moveTo>
                    <a:pt x="379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51"/>
                    <a:pt x="379" y="851"/>
                  </a:cubicBezTo>
                  <a:lnTo>
                    <a:pt x="12225" y="851"/>
                  </a:lnTo>
                  <a:cubicBezTo>
                    <a:pt x="12477" y="851"/>
                    <a:pt x="12634" y="662"/>
                    <a:pt x="12634" y="410"/>
                  </a:cubicBezTo>
                  <a:cubicBezTo>
                    <a:pt x="12666" y="158"/>
                    <a:pt x="12477" y="0"/>
                    <a:pt x="12225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0"/>
            <p:cNvSpPr/>
            <p:nvPr/>
          </p:nvSpPr>
          <p:spPr>
            <a:xfrm>
              <a:off x="-62150375" y="2838200"/>
              <a:ext cx="82725" cy="102400"/>
            </a:xfrm>
            <a:custGeom>
              <a:rect b="b" l="l" r="r" t="t"/>
              <a:pathLst>
                <a:path extrusionOk="0" h="4096" w="3309">
                  <a:moveTo>
                    <a:pt x="2363" y="756"/>
                  </a:moveTo>
                  <a:cubicBezTo>
                    <a:pt x="2427" y="756"/>
                    <a:pt x="2521" y="851"/>
                    <a:pt x="2521" y="914"/>
                  </a:cubicBezTo>
                  <a:lnTo>
                    <a:pt x="2521" y="3119"/>
                  </a:lnTo>
                  <a:cubicBezTo>
                    <a:pt x="2521" y="3214"/>
                    <a:pt x="2427" y="3245"/>
                    <a:pt x="2363" y="3245"/>
                  </a:cubicBezTo>
                  <a:lnTo>
                    <a:pt x="977" y="3245"/>
                  </a:lnTo>
                  <a:cubicBezTo>
                    <a:pt x="883" y="3245"/>
                    <a:pt x="820" y="3151"/>
                    <a:pt x="820" y="3119"/>
                  </a:cubicBezTo>
                  <a:lnTo>
                    <a:pt x="820" y="914"/>
                  </a:lnTo>
                  <a:cubicBezTo>
                    <a:pt x="820" y="851"/>
                    <a:pt x="883" y="756"/>
                    <a:pt x="977" y="756"/>
                  </a:cubicBezTo>
                  <a:close/>
                  <a:moveTo>
                    <a:pt x="946" y="0"/>
                  </a:moveTo>
                  <a:cubicBezTo>
                    <a:pt x="379" y="0"/>
                    <a:pt x="1" y="441"/>
                    <a:pt x="1" y="945"/>
                  </a:cubicBezTo>
                  <a:lnTo>
                    <a:pt x="1" y="3151"/>
                  </a:lnTo>
                  <a:cubicBezTo>
                    <a:pt x="1" y="3686"/>
                    <a:pt x="410" y="4096"/>
                    <a:pt x="946" y="4096"/>
                  </a:cubicBezTo>
                  <a:lnTo>
                    <a:pt x="2300" y="4096"/>
                  </a:lnTo>
                  <a:cubicBezTo>
                    <a:pt x="2868" y="4096"/>
                    <a:pt x="3309" y="3686"/>
                    <a:pt x="3309" y="3151"/>
                  </a:cubicBezTo>
                  <a:lnTo>
                    <a:pt x="3309" y="945"/>
                  </a:lnTo>
                  <a:cubicBezTo>
                    <a:pt x="3309" y="410"/>
                    <a:pt x="2868" y="0"/>
                    <a:pt x="230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0"/>
            <p:cNvSpPr/>
            <p:nvPr/>
          </p:nvSpPr>
          <p:spPr>
            <a:xfrm>
              <a:off x="-62033800" y="2664925"/>
              <a:ext cx="82725" cy="274900"/>
            </a:xfrm>
            <a:custGeom>
              <a:rect b="b" l="l" r="r" t="t"/>
              <a:pathLst>
                <a:path extrusionOk="0" h="10996" w="3309">
                  <a:moveTo>
                    <a:pt x="2332" y="788"/>
                  </a:moveTo>
                  <a:cubicBezTo>
                    <a:pt x="2426" y="851"/>
                    <a:pt x="2489" y="882"/>
                    <a:pt x="2489" y="945"/>
                  </a:cubicBezTo>
                  <a:lnTo>
                    <a:pt x="2489" y="10050"/>
                  </a:lnTo>
                  <a:cubicBezTo>
                    <a:pt x="2489" y="10145"/>
                    <a:pt x="2426" y="10176"/>
                    <a:pt x="2332" y="10176"/>
                  </a:cubicBezTo>
                  <a:lnTo>
                    <a:pt x="946" y="10176"/>
                  </a:lnTo>
                  <a:cubicBezTo>
                    <a:pt x="882" y="10176"/>
                    <a:pt x="851" y="10082"/>
                    <a:pt x="851" y="10050"/>
                  </a:cubicBezTo>
                  <a:lnTo>
                    <a:pt x="851" y="945"/>
                  </a:lnTo>
                  <a:cubicBezTo>
                    <a:pt x="851" y="882"/>
                    <a:pt x="914" y="788"/>
                    <a:pt x="946" y="788"/>
                  </a:cubicBezTo>
                  <a:close/>
                  <a:moveTo>
                    <a:pt x="946" y="0"/>
                  </a:moveTo>
                  <a:cubicBezTo>
                    <a:pt x="410" y="0"/>
                    <a:pt x="0" y="441"/>
                    <a:pt x="0" y="945"/>
                  </a:cubicBezTo>
                  <a:lnTo>
                    <a:pt x="0" y="10050"/>
                  </a:lnTo>
                  <a:cubicBezTo>
                    <a:pt x="0" y="10617"/>
                    <a:pt x="441" y="10995"/>
                    <a:pt x="946" y="10995"/>
                  </a:cubicBezTo>
                  <a:lnTo>
                    <a:pt x="2332" y="10995"/>
                  </a:lnTo>
                  <a:cubicBezTo>
                    <a:pt x="2899" y="10995"/>
                    <a:pt x="3308" y="10554"/>
                    <a:pt x="3308" y="10050"/>
                  </a:cubicBezTo>
                  <a:lnTo>
                    <a:pt x="3308" y="945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0"/>
            <p:cNvSpPr/>
            <p:nvPr/>
          </p:nvSpPr>
          <p:spPr>
            <a:xfrm>
              <a:off x="-61917225" y="2754700"/>
              <a:ext cx="83500" cy="185900"/>
            </a:xfrm>
            <a:custGeom>
              <a:rect b="b" l="l" r="r" t="t"/>
              <a:pathLst>
                <a:path extrusionOk="0" h="7436" w="3340">
                  <a:moveTo>
                    <a:pt x="2394" y="788"/>
                  </a:moveTo>
                  <a:cubicBezTo>
                    <a:pt x="2489" y="788"/>
                    <a:pt x="2520" y="883"/>
                    <a:pt x="2520" y="946"/>
                  </a:cubicBezTo>
                  <a:lnTo>
                    <a:pt x="2520" y="6459"/>
                  </a:lnTo>
                  <a:cubicBezTo>
                    <a:pt x="2520" y="6554"/>
                    <a:pt x="2426" y="6585"/>
                    <a:pt x="2394" y="6585"/>
                  </a:cubicBezTo>
                  <a:lnTo>
                    <a:pt x="1008" y="6585"/>
                  </a:lnTo>
                  <a:cubicBezTo>
                    <a:pt x="945" y="6585"/>
                    <a:pt x="851" y="6491"/>
                    <a:pt x="851" y="6459"/>
                  </a:cubicBezTo>
                  <a:lnTo>
                    <a:pt x="851" y="946"/>
                  </a:lnTo>
                  <a:cubicBezTo>
                    <a:pt x="851" y="883"/>
                    <a:pt x="945" y="788"/>
                    <a:pt x="1008" y="788"/>
                  </a:cubicBezTo>
                  <a:close/>
                  <a:moveTo>
                    <a:pt x="977" y="1"/>
                  </a:moveTo>
                  <a:cubicBezTo>
                    <a:pt x="441" y="1"/>
                    <a:pt x="0" y="442"/>
                    <a:pt x="0" y="977"/>
                  </a:cubicBezTo>
                  <a:lnTo>
                    <a:pt x="0" y="6491"/>
                  </a:lnTo>
                  <a:cubicBezTo>
                    <a:pt x="0" y="7058"/>
                    <a:pt x="441" y="7436"/>
                    <a:pt x="977" y="7436"/>
                  </a:cubicBezTo>
                  <a:lnTo>
                    <a:pt x="2363" y="7436"/>
                  </a:lnTo>
                  <a:cubicBezTo>
                    <a:pt x="2899" y="7436"/>
                    <a:pt x="3308" y="7026"/>
                    <a:pt x="3308" y="6491"/>
                  </a:cubicBezTo>
                  <a:lnTo>
                    <a:pt x="3308" y="977"/>
                  </a:lnTo>
                  <a:cubicBezTo>
                    <a:pt x="3340" y="442"/>
                    <a:pt x="2899" y="1"/>
                    <a:pt x="236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4" name="Google Shape;764;p30"/>
          <p:cNvSpPr/>
          <p:nvPr/>
        </p:nvSpPr>
        <p:spPr>
          <a:xfrm>
            <a:off x="3432600" y="2571750"/>
            <a:ext cx="2428200" cy="1808400"/>
          </a:xfrm>
          <a:prstGeom prst="rect">
            <a:avLst/>
          </a:prstGeom>
          <a:solidFill>
            <a:srgbClr val="0E2A47">
              <a:alpha val="200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WILLINGNESS TO PAY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Quantifying value for market access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765" name="Google Shape;765;p30"/>
          <p:cNvGrpSpPr/>
          <p:nvPr/>
        </p:nvGrpSpPr>
        <p:grpSpPr>
          <a:xfrm>
            <a:off x="4462657" y="2722413"/>
            <a:ext cx="368091" cy="334402"/>
            <a:chOff x="-62518200" y="2692475"/>
            <a:chExt cx="318225" cy="289100"/>
          </a:xfrm>
        </p:grpSpPr>
        <p:sp>
          <p:nvSpPr>
            <p:cNvPr id="766" name="Google Shape;766;p30"/>
            <p:cNvSpPr/>
            <p:nvPr/>
          </p:nvSpPr>
          <p:spPr>
            <a:xfrm>
              <a:off x="-62518200" y="2692475"/>
              <a:ext cx="318225" cy="289100"/>
            </a:xfrm>
            <a:custGeom>
              <a:rect b="b" l="l" r="r" t="t"/>
              <a:pathLst>
                <a:path extrusionOk="0" h="11564" w="12729">
                  <a:moveTo>
                    <a:pt x="3750" y="851"/>
                  </a:moveTo>
                  <a:cubicBezTo>
                    <a:pt x="5420" y="851"/>
                    <a:pt x="6617" y="1513"/>
                    <a:pt x="6617" y="2112"/>
                  </a:cubicBezTo>
                  <a:cubicBezTo>
                    <a:pt x="6617" y="2679"/>
                    <a:pt x="5420" y="3309"/>
                    <a:pt x="3750" y="3309"/>
                  </a:cubicBezTo>
                  <a:cubicBezTo>
                    <a:pt x="2206" y="3309"/>
                    <a:pt x="851" y="2679"/>
                    <a:pt x="851" y="2112"/>
                  </a:cubicBezTo>
                  <a:cubicBezTo>
                    <a:pt x="851" y="1481"/>
                    <a:pt x="2112" y="851"/>
                    <a:pt x="3750" y="851"/>
                  </a:cubicBezTo>
                  <a:close/>
                  <a:moveTo>
                    <a:pt x="6617" y="3403"/>
                  </a:moveTo>
                  <a:lnTo>
                    <a:pt x="6617" y="3781"/>
                  </a:lnTo>
                  <a:cubicBezTo>
                    <a:pt x="5829" y="4222"/>
                    <a:pt x="5199" y="4884"/>
                    <a:pt x="4821" y="5672"/>
                  </a:cubicBezTo>
                  <a:cubicBezTo>
                    <a:pt x="4475" y="5766"/>
                    <a:pt x="4096" y="5766"/>
                    <a:pt x="3750" y="5766"/>
                  </a:cubicBezTo>
                  <a:cubicBezTo>
                    <a:pt x="2206" y="5766"/>
                    <a:pt x="851" y="5136"/>
                    <a:pt x="851" y="4506"/>
                  </a:cubicBezTo>
                  <a:lnTo>
                    <a:pt x="851" y="3403"/>
                  </a:lnTo>
                  <a:cubicBezTo>
                    <a:pt x="1639" y="3939"/>
                    <a:pt x="2742" y="4159"/>
                    <a:pt x="3750" y="4159"/>
                  </a:cubicBezTo>
                  <a:cubicBezTo>
                    <a:pt x="4727" y="4159"/>
                    <a:pt x="5829" y="3939"/>
                    <a:pt x="6617" y="3403"/>
                  </a:cubicBezTo>
                  <a:close/>
                  <a:moveTo>
                    <a:pt x="883" y="5913"/>
                  </a:moveTo>
                  <a:cubicBezTo>
                    <a:pt x="1396" y="6254"/>
                    <a:pt x="2361" y="6617"/>
                    <a:pt x="3750" y="6617"/>
                  </a:cubicBezTo>
                  <a:cubicBezTo>
                    <a:pt x="4033" y="6617"/>
                    <a:pt x="4254" y="6617"/>
                    <a:pt x="4538" y="6585"/>
                  </a:cubicBezTo>
                  <a:lnTo>
                    <a:pt x="4538" y="6585"/>
                  </a:lnTo>
                  <a:cubicBezTo>
                    <a:pt x="4475" y="6869"/>
                    <a:pt x="4475" y="7184"/>
                    <a:pt x="4475" y="7467"/>
                  </a:cubicBezTo>
                  <a:cubicBezTo>
                    <a:pt x="4475" y="7719"/>
                    <a:pt x="4506" y="7971"/>
                    <a:pt x="4538" y="8255"/>
                  </a:cubicBezTo>
                  <a:cubicBezTo>
                    <a:pt x="4317" y="8287"/>
                    <a:pt x="4033" y="8287"/>
                    <a:pt x="3781" y="8287"/>
                  </a:cubicBezTo>
                  <a:cubicBezTo>
                    <a:pt x="2269" y="8287"/>
                    <a:pt x="883" y="7656"/>
                    <a:pt x="883" y="7026"/>
                  </a:cubicBezTo>
                  <a:lnTo>
                    <a:pt x="883" y="5913"/>
                  </a:lnTo>
                  <a:close/>
                  <a:moveTo>
                    <a:pt x="851" y="8350"/>
                  </a:moveTo>
                  <a:cubicBezTo>
                    <a:pt x="1639" y="8917"/>
                    <a:pt x="2773" y="9106"/>
                    <a:pt x="3750" y="9106"/>
                  </a:cubicBezTo>
                  <a:cubicBezTo>
                    <a:pt x="4096" y="9106"/>
                    <a:pt x="4412" y="9074"/>
                    <a:pt x="4727" y="9043"/>
                  </a:cubicBezTo>
                  <a:cubicBezTo>
                    <a:pt x="4979" y="9547"/>
                    <a:pt x="5294" y="10019"/>
                    <a:pt x="5672" y="10397"/>
                  </a:cubicBezTo>
                  <a:cubicBezTo>
                    <a:pt x="5136" y="10649"/>
                    <a:pt x="4475" y="10775"/>
                    <a:pt x="3750" y="10775"/>
                  </a:cubicBezTo>
                  <a:cubicBezTo>
                    <a:pt x="2112" y="10775"/>
                    <a:pt x="851" y="10082"/>
                    <a:pt x="851" y="9547"/>
                  </a:cubicBezTo>
                  <a:lnTo>
                    <a:pt x="851" y="8350"/>
                  </a:lnTo>
                  <a:close/>
                  <a:moveTo>
                    <a:pt x="8570" y="4159"/>
                  </a:moveTo>
                  <a:cubicBezTo>
                    <a:pt x="10366" y="4159"/>
                    <a:pt x="11878" y="5640"/>
                    <a:pt x="11878" y="7467"/>
                  </a:cubicBezTo>
                  <a:cubicBezTo>
                    <a:pt x="11878" y="9263"/>
                    <a:pt x="10366" y="10775"/>
                    <a:pt x="8570" y="10775"/>
                  </a:cubicBezTo>
                  <a:cubicBezTo>
                    <a:pt x="6743" y="10775"/>
                    <a:pt x="5262" y="9263"/>
                    <a:pt x="5262" y="7467"/>
                  </a:cubicBezTo>
                  <a:cubicBezTo>
                    <a:pt x="5262" y="5609"/>
                    <a:pt x="6743" y="4159"/>
                    <a:pt x="8570" y="4159"/>
                  </a:cubicBezTo>
                  <a:close/>
                  <a:moveTo>
                    <a:pt x="3781" y="1"/>
                  </a:moveTo>
                  <a:cubicBezTo>
                    <a:pt x="1797" y="1"/>
                    <a:pt x="64" y="851"/>
                    <a:pt x="64" y="2112"/>
                  </a:cubicBezTo>
                  <a:lnTo>
                    <a:pt x="64" y="9547"/>
                  </a:lnTo>
                  <a:cubicBezTo>
                    <a:pt x="1" y="10082"/>
                    <a:pt x="442" y="10649"/>
                    <a:pt x="1230" y="11027"/>
                  </a:cubicBezTo>
                  <a:cubicBezTo>
                    <a:pt x="1891" y="11405"/>
                    <a:pt x="2805" y="11563"/>
                    <a:pt x="3750" y="11563"/>
                  </a:cubicBezTo>
                  <a:cubicBezTo>
                    <a:pt x="4790" y="11563"/>
                    <a:pt x="5735" y="11311"/>
                    <a:pt x="6428" y="10964"/>
                  </a:cubicBezTo>
                  <a:cubicBezTo>
                    <a:pt x="7058" y="11342"/>
                    <a:pt x="7814" y="11563"/>
                    <a:pt x="8602" y="11563"/>
                  </a:cubicBezTo>
                  <a:cubicBezTo>
                    <a:pt x="10870" y="11563"/>
                    <a:pt x="12729" y="9704"/>
                    <a:pt x="12729" y="7404"/>
                  </a:cubicBezTo>
                  <a:cubicBezTo>
                    <a:pt x="12729" y="5136"/>
                    <a:pt x="10870" y="3277"/>
                    <a:pt x="8602" y="3277"/>
                  </a:cubicBezTo>
                  <a:cubicBezTo>
                    <a:pt x="8192" y="3277"/>
                    <a:pt x="7846" y="3309"/>
                    <a:pt x="7499" y="3435"/>
                  </a:cubicBezTo>
                  <a:lnTo>
                    <a:pt x="7499" y="2049"/>
                  </a:lnTo>
                  <a:cubicBezTo>
                    <a:pt x="7499" y="1481"/>
                    <a:pt x="7058" y="914"/>
                    <a:pt x="6302" y="536"/>
                  </a:cubicBezTo>
                  <a:cubicBezTo>
                    <a:pt x="5640" y="158"/>
                    <a:pt x="4727" y="1"/>
                    <a:pt x="3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0"/>
            <p:cNvSpPr/>
            <p:nvPr/>
          </p:nvSpPr>
          <p:spPr>
            <a:xfrm>
              <a:off x="-62335475" y="2804325"/>
              <a:ext cx="62250" cy="146525"/>
            </a:xfrm>
            <a:custGeom>
              <a:rect b="b" l="l" r="r" t="t"/>
              <a:pathLst>
                <a:path extrusionOk="0" h="5861" w="2490">
                  <a:moveTo>
                    <a:pt x="1261" y="0"/>
                  </a:moveTo>
                  <a:cubicBezTo>
                    <a:pt x="1009" y="0"/>
                    <a:pt x="820" y="189"/>
                    <a:pt x="820" y="410"/>
                  </a:cubicBezTo>
                  <a:lnTo>
                    <a:pt x="820" y="694"/>
                  </a:lnTo>
                  <a:cubicBezTo>
                    <a:pt x="348" y="851"/>
                    <a:pt x="1" y="1324"/>
                    <a:pt x="1" y="1891"/>
                  </a:cubicBezTo>
                  <a:cubicBezTo>
                    <a:pt x="1" y="2552"/>
                    <a:pt x="537" y="2930"/>
                    <a:pt x="978" y="3245"/>
                  </a:cubicBezTo>
                  <a:cubicBezTo>
                    <a:pt x="1293" y="3497"/>
                    <a:pt x="1639" y="3718"/>
                    <a:pt x="1639" y="3970"/>
                  </a:cubicBezTo>
                  <a:cubicBezTo>
                    <a:pt x="1671" y="4254"/>
                    <a:pt x="1482" y="4411"/>
                    <a:pt x="1261" y="4411"/>
                  </a:cubicBezTo>
                  <a:cubicBezTo>
                    <a:pt x="1009" y="4411"/>
                    <a:pt x="820" y="4191"/>
                    <a:pt x="820" y="3970"/>
                  </a:cubicBezTo>
                  <a:cubicBezTo>
                    <a:pt x="820" y="3718"/>
                    <a:pt x="631" y="3529"/>
                    <a:pt x="411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8" y="4947"/>
                    <a:pt x="820" y="5136"/>
                  </a:cubicBezTo>
                  <a:lnTo>
                    <a:pt x="820" y="5419"/>
                  </a:lnTo>
                  <a:cubicBezTo>
                    <a:pt x="820" y="5671"/>
                    <a:pt x="1009" y="5860"/>
                    <a:pt x="1261" y="5860"/>
                  </a:cubicBezTo>
                  <a:cubicBezTo>
                    <a:pt x="1482" y="5860"/>
                    <a:pt x="1639" y="5671"/>
                    <a:pt x="1639" y="5419"/>
                  </a:cubicBezTo>
                  <a:lnTo>
                    <a:pt x="1639" y="5136"/>
                  </a:lnTo>
                  <a:cubicBezTo>
                    <a:pt x="2112" y="4978"/>
                    <a:pt x="2458" y="4506"/>
                    <a:pt x="2458" y="3970"/>
                  </a:cubicBezTo>
                  <a:cubicBezTo>
                    <a:pt x="2458" y="3308"/>
                    <a:pt x="1923" y="2899"/>
                    <a:pt x="1482" y="2584"/>
                  </a:cubicBezTo>
                  <a:cubicBezTo>
                    <a:pt x="1167" y="2363"/>
                    <a:pt x="820" y="2111"/>
                    <a:pt x="820" y="1891"/>
                  </a:cubicBezTo>
                  <a:cubicBezTo>
                    <a:pt x="820" y="1639"/>
                    <a:pt x="1009" y="1450"/>
                    <a:pt x="1261" y="1450"/>
                  </a:cubicBezTo>
                  <a:cubicBezTo>
                    <a:pt x="1482" y="1450"/>
                    <a:pt x="1639" y="1639"/>
                    <a:pt x="1639" y="1891"/>
                  </a:cubicBezTo>
                  <a:cubicBezTo>
                    <a:pt x="1639" y="2111"/>
                    <a:pt x="1860" y="2300"/>
                    <a:pt x="2049" y="2300"/>
                  </a:cubicBezTo>
                  <a:cubicBezTo>
                    <a:pt x="2269" y="2300"/>
                    <a:pt x="2490" y="2111"/>
                    <a:pt x="2490" y="1891"/>
                  </a:cubicBezTo>
                  <a:cubicBezTo>
                    <a:pt x="2490" y="1324"/>
                    <a:pt x="2112" y="883"/>
                    <a:pt x="1639" y="694"/>
                  </a:cubicBezTo>
                  <a:lnTo>
                    <a:pt x="1639" y="410"/>
                  </a:lnTo>
                  <a:cubicBezTo>
                    <a:pt x="1639" y="189"/>
                    <a:pt x="1450" y="0"/>
                    <a:pt x="1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8" name="Google Shape;768;p30"/>
          <p:cNvSpPr/>
          <p:nvPr/>
        </p:nvSpPr>
        <p:spPr>
          <a:xfrm>
            <a:off x="5958450" y="2571750"/>
            <a:ext cx="2428200" cy="1808400"/>
          </a:xfrm>
          <a:prstGeom prst="rect">
            <a:avLst/>
          </a:prstGeom>
          <a:solidFill>
            <a:srgbClr val="0E2A47">
              <a:alpha val="200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MAXIMUM ACCEPTABLE RISK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Defining safety boundaries for regulators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769" name="Google Shape;769;p30"/>
          <p:cNvGrpSpPr/>
          <p:nvPr/>
        </p:nvGrpSpPr>
        <p:grpSpPr>
          <a:xfrm>
            <a:off x="7007540" y="2746012"/>
            <a:ext cx="330007" cy="302744"/>
            <a:chOff x="6239575" y="4416275"/>
            <a:chExt cx="489625" cy="449175"/>
          </a:xfrm>
        </p:grpSpPr>
        <p:sp>
          <p:nvSpPr>
            <p:cNvPr id="770" name="Google Shape;770;p30"/>
            <p:cNvSpPr/>
            <p:nvPr/>
          </p:nvSpPr>
          <p:spPr>
            <a:xfrm>
              <a:off x="6239575" y="4416275"/>
              <a:ext cx="489625" cy="449175"/>
            </a:xfrm>
            <a:custGeom>
              <a:rect b="b" l="l" r="r" t="t"/>
              <a:pathLst>
                <a:path extrusionOk="0" h="17967" w="19585">
                  <a:moveTo>
                    <a:pt x="9792" y="1132"/>
                  </a:moveTo>
                  <a:cubicBezTo>
                    <a:pt x="10374" y="1132"/>
                    <a:pt x="10955" y="1424"/>
                    <a:pt x="11278" y="2009"/>
                  </a:cubicBezTo>
                  <a:lnTo>
                    <a:pt x="18111" y="14313"/>
                  </a:lnTo>
                  <a:cubicBezTo>
                    <a:pt x="18404" y="14838"/>
                    <a:pt x="18395" y="15481"/>
                    <a:pt x="18087" y="15998"/>
                  </a:cubicBezTo>
                  <a:cubicBezTo>
                    <a:pt x="17786" y="16518"/>
                    <a:pt x="17232" y="16834"/>
                    <a:pt x="16634" y="16834"/>
                  </a:cubicBezTo>
                  <a:cubicBezTo>
                    <a:pt x="16631" y="16834"/>
                    <a:pt x="16628" y="16834"/>
                    <a:pt x="16625" y="16834"/>
                  </a:cubicBezTo>
                  <a:lnTo>
                    <a:pt x="2962" y="16834"/>
                  </a:lnTo>
                  <a:cubicBezTo>
                    <a:pt x="1667" y="16834"/>
                    <a:pt x="849" y="15445"/>
                    <a:pt x="1474" y="14313"/>
                  </a:cubicBezTo>
                  <a:lnTo>
                    <a:pt x="8307" y="2009"/>
                  </a:lnTo>
                  <a:cubicBezTo>
                    <a:pt x="8630" y="1424"/>
                    <a:pt x="9211" y="1132"/>
                    <a:pt x="9792" y="1132"/>
                  </a:cubicBezTo>
                  <a:close/>
                  <a:moveTo>
                    <a:pt x="9792" y="1"/>
                  </a:moveTo>
                  <a:cubicBezTo>
                    <a:pt x="8763" y="1"/>
                    <a:pt x="7815" y="559"/>
                    <a:pt x="7317" y="1462"/>
                  </a:cubicBezTo>
                  <a:lnTo>
                    <a:pt x="483" y="13766"/>
                  </a:lnTo>
                  <a:cubicBezTo>
                    <a:pt x="0" y="14642"/>
                    <a:pt x="15" y="15711"/>
                    <a:pt x="523" y="16574"/>
                  </a:cubicBezTo>
                  <a:cubicBezTo>
                    <a:pt x="1033" y="17435"/>
                    <a:pt x="1960" y="17966"/>
                    <a:pt x="2962" y="17966"/>
                  </a:cubicBezTo>
                  <a:lnTo>
                    <a:pt x="16625" y="17966"/>
                  </a:lnTo>
                  <a:cubicBezTo>
                    <a:pt x="17625" y="17966"/>
                    <a:pt x="18555" y="17435"/>
                    <a:pt x="19062" y="16574"/>
                  </a:cubicBezTo>
                  <a:cubicBezTo>
                    <a:pt x="19572" y="15711"/>
                    <a:pt x="19585" y="14642"/>
                    <a:pt x="19101" y="13766"/>
                  </a:cubicBezTo>
                  <a:lnTo>
                    <a:pt x="12271" y="1462"/>
                  </a:lnTo>
                  <a:cubicBezTo>
                    <a:pt x="11770" y="559"/>
                    <a:pt x="10822" y="1"/>
                    <a:pt x="9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71" name="Google Shape;771;p30"/>
            <p:cNvSpPr/>
            <p:nvPr/>
          </p:nvSpPr>
          <p:spPr>
            <a:xfrm>
              <a:off x="6438550" y="4723875"/>
              <a:ext cx="88350" cy="84950"/>
            </a:xfrm>
            <a:custGeom>
              <a:rect b="b" l="l" r="r" t="t"/>
              <a:pathLst>
                <a:path extrusionOk="0" h="3398" w="3534">
                  <a:moveTo>
                    <a:pt x="1830" y="1132"/>
                  </a:moveTo>
                  <a:cubicBezTo>
                    <a:pt x="2122" y="1132"/>
                    <a:pt x="2401" y="1358"/>
                    <a:pt x="2401" y="1701"/>
                  </a:cubicBezTo>
                  <a:cubicBezTo>
                    <a:pt x="2401" y="2012"/>
                    <a:pt x="2147" y="2266"/>
                    <a:pt x="1833" y="2266"/>
                  </a:cubicBezTo>
                  <a:cubicBezTo>
                    <a:pt x="1329" y="2266"/>
                    <a:pt x="1076" y="1656"/>
                    <a:pt x="1432" y="1299"/>
                  </a:cubicBezTo>
                  <a:cubicBezTo>
                    <a:pt x="1548" y="1184"/>
                    <a:pt x="1691" y="1132"/>
                    <a:pt x="1830" y="1132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1" y="1683"/>
                    <a:pt x="146" y="2414"/>
                    <a:pt x="632" y="2900"/>
                  </a:cubicBezTo>
                  <a:cubicBezTo>
                    <a:pt x="957" y="3225"/>
                    <a:pt x="1391" y="3397"/>
                    <a:pt x="1833" y="3397"/>
                  </a:cubicBezTo>
                  <a:cubicBezTo>
                    <a:pt x="2052" y="3397"/>
                    <a:pt x="2273" y="3355"/>
                    <a:pt x="2483" y="3268"/>
                  </a:cubicBezTo>
                  <a:cubicBezTo>
                    <a:pt x="3117" y="3005"/>
                    <a:pt x="3533" y="2386"/>
                    <a:pt x="3533" y="1701"/>
                  </a:cubicBezTo>
                  <a:cubicBezTo>
                    <a:pt x="3530" y="762"/>
                    <a:pt x="2772" y="1"/>
                    <a:pt x="18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72" name="Google Shape;772;p30"/>
            <p:cNvSpPr/>
            <p:nvPr/>
          </p:nvSpPr>
          <p:spPr>
            <a:xfrm>
              <a:off x="6441950" y="4497425"/>
              <a:ext cx="84950" cy="198250"/>
            </a:xfrm>
            <a:custGeom>
              <a:rect b="b" l="l" r="r" t="t"/>
              <a:pathLst>
                <a:path extrusionOk="0" h="7930" w="3398">
                  <a:moveTo>
                    <a:pt x="1697" y="1133"/>
                  </a:moveTo>
                  <a:cubicBezTo>
                    <a:pt x="2011" y="1133"/>
                    <a:pt x="2265" y="1387"/>
                    <a:pt x="2265" y="1701"/>
                  </a:cubicBezTo>
                  <a:lnTo>
                    <a:pt x="2265" y="6230"/>
                  </a:lnTo>
                  <a:cubicBezTo>
                    <a:pt x="2265" y="6544"/>
                    <a:pt x="2011" y="6797"/>
                    <a:pt x="1697" y="6797"/>
                  </a:cubicBezTo>
                  <a:cubicBezTo>
                    <a:pt x="1383" y="6797"/>
                    <a:pt x="1133" y="6544"/>
                    <a:pt x="1133" y="6230"/>
                  </a:cubicBezTo>
                  <a:lnTo>
                    <a:pt x="1133" y="1701"/>
                  </a:lnTo>
                  <a:cubicBezTo>
                    <a:pt x="1133" y="1387"/>
                    <a:pt x="1383" y="1133"/>
                    <a:pt x="1697" y="1133"/>
                  </a:cubicBezTo>
                  <a:close/>
                  <a:moveTo>
                    <a:pt x="1697" y="1"/>
                  </a:moveTo>
                  <a:cubicBezTo>
                    <a:pt x="758" y="1"/>
                    <a:pt x="1" y="762"/>
                    <a:pt x="1" y="1701"/>
                  </a:cubicBezTo>
                  <a:lnTo>
                    <a:pt x="1" y="6233"/>
                  </a:lnTo>
                  <a:cubicBezTo>
                    <a:pt x="1" y="7169"/>
                    <a:pt x="758" y="7930"/>
                    <a:pt x="1697" y="7930"/>
                  </a:cubicBezTo>
                  <a:cubicBezTo>
                    <a:pt x="2636" y="7930"/>
                    <a:pt x="3397" y="7169"/>
                    <a:pt x="3397" y="6233"/>
                  </a:cubicBezTo>
                  <a:lnTo>
                    <a:pt x="3397" y="1701"/>
                  </a:lnTo>
                  <a:cubicBezTo>
                    <a:pt x="3397" y="762"/>
                    <a:pt x="2636" y="1"/>
                    <a:pt x="16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1"/>
          <p:cNvSpPr txBox="1"/>
          <p:nvPr>
            <p:ph type="title"/>
          </p:nvPr>
        </p:nvSpPr>
        <p:spPr>
          <a:xfrm>
            <a:off x="720000" y="514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REPERTORIO</a:t>
            </a:r>
            <a:r>
              <a:rPr lang="en" sz="1800"/>
              <a:t> FUNCTIONAL DIAGRAM</a:t>
            </a:r>
            <a:endParaRPr sz="1800"/>
          </a:p>
        </p:txBody>
      </p:sp>
      <p:sp>
        <p:nvSpPr>
          <p:cNvPr id="778" name="Google Shape;778;p31"/>
          <p:cNvSpPr/>
          <p:nvPr/>
        </p:nvSpPr>
        <p:spPr>
          <a:xfrm>
            <a:off x="860950" y="1376975"/>
            <a:ext cx="2076000" cy="1014900"/>
          </a:xfrm>
          <a:prstGeom prst="rect">
            <a:avLst/>
          </a:prstGeom>
          <a:solidFill>
            <a:srgbClr val="46406B">
              <a:alpha val="2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PATIENT PREFERENCE STUDIES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779" name="Google Shape;779;p31"/>
          <p:cNvGrpSpPr/>
          <p:nvPr/>
        </p:nvGrpSpPr>
        <p:grpSpPr>
          <a:xfrm>
            <a:off x="1726375" y="1457700"/>
            <a:ext cx="345150" cy="345150"/>
            <a:chOff x="7783763" y="1564575"/>
            <a:chExt cx="345150" cy="345150"/>
          </a:xfrm>
        </p:grpSpPr>
        <p:sp>
          <p:nvSpPr>
            <p:cNvPr id="780" name="Google Shape;780;p31"/>
            <p:cNvSpPr/>
            <p:nvPr/>
          </p:nvSpPr>
          <p:spPr>
            <a:xfrm>
              <a:off x="7783763" y="1564575"/>
              <a:ext cx="345150" cy="345150"/>
            </a:xfrm>
            <a:custGeom>
              <a:rect b="b" l="l" r="r" t="t"/>
              <a:pathLst>
                <a:path extrusionOk="0" h="13806" w="13806">
                  <a:moveTo>
                    <a:pt x="5928" y="805"/>
                  </a:moveTo>
                  <a:lnTo>
                    <a:pt x="6899" y="2747"/>
                  </a:lnTo>
                  <a:cubicBezTo>
                    <a:pt x="6957" y="2876"/>
                    <a:pt x="7098" y="2968"/>
                    <a:pt x="7249" y="2968"/>
                  </a:cubicBezTo>
                  <a:lnTo>
                    <a:pt x="12989" y="2968"/>
                  </a:lnTo>
                  <a:lnTo>
                    <a:pt x="12989" y="3776"/>
                  </a:lnTo>
                  <a:lnTo>
                    <a:pt x="6500" y="3776"/>
                  </a:lnTo>
                  <a:lnTo>
                    <a:pt x="5541" y="1846"/>
                  </a:lnTo>
                  <a:cubicBezTo>
                    <a:pt x="5471" y="1706"/>
                    <a:pt x="5330" y="1613"/>
                    <a:pt x="5179" y="1613"/>
                  </a:cubicBezTo>
                  <a:lnTo>
                    <a:pt x="2691" y="1613"/>
                  </a:lnTo>
                  <a:lnTo>
                    <a:pt x="2691" y="805"/>
                  </a:lnTo>
                  <a:close/>
                  <a:moveTo>
                    <a:pt x="4924" y="2432"/>
                  </a:moveTo>
                  <a:lnTo>
                    <a:pt x="5891" y="4360"/>
                  </a:lnTo>
                  <a:cubicBezTo>
                    <a:pt x="5962" y="4500"/>
                    <a:pt x="6102" y="4581"/>
                    <a:pt x="6256" y="4581"/>
                  </a:cubicBezTo>
                  <a:lnTo>
                    <a:pt x="12989" y="4581"/>
                  </a:lnTo>
                  <a:lnTo>
                    <a:pt x="12989" y="5389"/>
                  </a:lnTo>
                  <a:lnTo>
                    <a:pt x="5507" y="5389"/>
                  </a:lnTo>
                  <a:lnTo>
                    <a:pt x="4536" y="3459"/>
                  </a:lnTo>
                  <a:cubicBezTo>
                    <a:pt x="4466" y="3319"/>
                    <a:pt x="4326" y="3238"/>
                    <a:pt x="4175" y="3238"/>
                  </a:cubicBezTo>
                  <a:lnTo>
                    <a:pt x="1613" y="3238"/>
                  </a:lnTo>
                  <a:lnTo>
                    <a:pt x="1613" y="2432"/>
                  </a:lnTo>
                  <a:close/>
                  <a:moveTo>
                    <a:pt x="4166" y="7876"/>
                  </a:moveTo>
                  <a:cubicBezTo>
                    <a:pt x="4839" y="7876"/>
                    <a:pt x="5389" y="8414"/>
                    <a:pt x="5389" y="9081"/>
                  </a:cubicBezTo>
                  <a:lnTo>
                    <a:pt x="5389" y="9760"/>
                  </a:lnTo>
                  <a:lnTo>
                    <a:pt x="2960" y="9760"/>
                  </a:lnTo>
                  <a:lnTo>
                    <a:pt x="2960" y="9106"/>
                  </a:lnTo>
                  <a:cubicBezTo>
                    <a:pt x="2960" y="8475"/>
                    <a:pt x="3473" y="7914"/>
                    <a:pt x="4104" y="7878"/>
                  </a:cubicBezTo>
                  <a:cubicBezTo>
                    <a:pt x="4125" y="7877"/>
                    <a:pt x="4145" y="7876"/>
                    <a:pt x="4166" y="7876"/>
                  </a:cubicBezTo>
                  <a:close/>
                  <a:moveTo>
                    <a:pt x="3928" y="4045"/>
                  </a:moveTo>
                  <a:lnTo>
                    <a:pt x="4887" y="5973"/>
                  </a:lnTo>
                  <a:cubicBezTo>
                    <a:pt x="4957" y="6113"/>
                    <a:pt x="5098" y="6206"/>
                    <a:pt x="5249" y="6206"/>
                  </a:cubicBezTo>
                  <a:lnTo>
                    <a:pt x="12989" y="6206"/>
                  </a:lnTo>
                  <a:lnTo>
                    <a:pt x="12989" y="10299"/>
                  </a:lnTo>
                  <a:lnTo>
                    <a:pt x="6733" y="10299"/>
                  </a:lnTo>
                  <a:lnTo>
                    <a:pt x="6733" y="10169"/>
                  </a:lnTo>
                  <a:cubicBezTo>
                    <a:pt x="6733" y="9948"/>
                    <a:pt x="6559" y="9760"/>
                    <a:pt x="6337" y="9760"/>
                  </a:cubicBezTo>
                  <a:lnTo>
                    <a:pt x="6197" y="9760"/>
                  </a:lnTo>
                  <a:lnTo>
                    <a:pt x="6197" y="9117"/>
                  </a:lnTo>
                  <a:cubicBezTo>
                    <a:pt x="6197" y="8018"/>
                    <a:pt x="5344" y="7106"/>
                    <a:pt x="4256" y="7072"/>
                  </a:cubicBezTo>
                  <a:cubicBezTo>
                    <a:pt x="4227" y="7071"/>
                    <a:pt x="4199" y="7071"/>
                    <a:pt x="4170" y="7071"/>
                  </a:cubicBezTo>
                  <a:cubicBezTo>
                    <a:pt x="3054" y="7071"/>
                    <a:pt x="2152" y="7976"/>
                    <a:pt x="2152" y="9081"/>
                  </a:cubicBezTo>
                  <a:lnTo>
                    <a:pt x="2152" y="9760"/>
                  </a:lnTo>
                  <a:lnTo>
                    <a:pt x="2023" y="9760"/>
                  </a:lnTo>
                  <a:cubicBezTo>
                    <a:pt x="1801" y="9760"/>
                    <a:pt x="1613" y="9948"/>
                    <a:pt x="1613" y="10169"/>
                  </a:cubicBezTo>
                  <a:lnTo>
                    <a:pt x="1613" y="10299"/>
                  </a:lnTo>
                  <a:lnTo>
                    <a:pt x="808" y="10299"/>
                  </a:lnTo>
                  <a:lnTo>
                    <a:pt x="808" y="4045"/>
                  </a:lnTo>
                  <a:close/>
                  <a:moveTo>
                    <a:pt x="1613" y="11104"/>
                  </a:moveTo>
                  <a:lnTo>
                    <a:pt x="1613" y="11923"/>
                  </a:lnTo>
                  <a:lnTo>
                    <a:pt x="808" y="11923"/>
                  </a:lnTo>
                  <a:lnTo>
                    <a:pt x="808" y="11104"/>
                  </a:lnTo>
                  <a:close/>
                  <a:moveTo>
                    <a:pt x="12989" y="11104"/>
                  </a:moveTo>
                  <a:lnTo>
                    <a:pt x="12989" y="11923"/>
                  </a:lnTo>
                  <a:lnTo>
                    <a:pt x="6733" y="11923"/>
                  </a:lnTo>
                  <a:lnTo>
                    <a:pt x="6733" y="11104"/>
                  </a:lnTo>
                  <a:close/>
                  <a:moveTo>
                    <a:pt x="5928" y="10568"/>
                  </a:moveTo>
                  <a:lnTo>
                    <a:pt x="5928" y="12997"/>
                  </a:lnTo>
                  <a:lnTo>
                    <a:pt x="2421" y="12997"/>
                  </a:lnTo>
                  <a:lnTo>
                    <a:pt x="2421" y="10568"/>
                  </a:lnTo>
                  <a:close/>
                  <a:moveTo>
                    <a:pt x="2292" y="0"/>
                  </a:moveTo>
                  <a:cubicBezTo>
                    <a:pt x="2071" y="0"/>
                    <a:pt x="1883" y="188"/>
                    <a:pt x="1883" y="410"/>
                  </a:cubicBezTo>
                  <a:lnTo>
                    <a:pt x="1883" y="1613"/>
                  </a:lnTo>
                  <a:lnTo>
                    <a:pt x="1207" y="1613"/>
                  </a:lnTo>
                  <a:cubicBezTo>
                    <a:pt x="982" y="1613"/>
                    <a:pt x="808" y="1801"/>
                    <a:pt x="808" y="2023"/>
                  </a:cubicBezTo>
                  <a:lnTo>
                    <a:pt x="808" y="3238"/>
                  </a:lnTo>
                  <a:lnTo>
                    <a:pt x="399" y="3238"/>
                  </a:lnTo>
                  <a:cubicBezTo>
                    <a:pt x="177" y="3238"/>
                    <a:pt x="0" y="3414"/>
                    <a:pt x="0" y="3636"/>
                  </a:cubicBezTo>
                  <a:lnTo>
                    <a:pt x="0" y="12321"/>
                  </a:lnTo>
                  <a:cubicBezTo>
                    <a:pt x="0" y="12543"/>
                    <a:pt x="177" y="12728"/>
                    <a:pt x="399" y="12728"/>
                  </a:cubicBezTo>
                  <a:lnTo>
                    <a:pt x="1613" y="12728"/>
                  </a:lnTo>
                  <a:lnTo>
                    <a:pt x="1613" y="13396"/>
                  </a:lnTo>
                  <a:cubicBezTo>
                    <a:pt x="1613" y="13628"/>
                    <a:pt x="1801" y="13805"/>
                    <a:pt x="2023" y="13805"/>
                  </a:cubicBezTo>
                  <a:lnTo>
                    <a:pt x="6337" y="13805"/>
                  </a:lnTo>
                  <a:cubicBezTo>
                    <a:pt x="6559" y="13805"/>
                    <a:pt x="6733" y="13628"/>
                    <a:pt x="6733" y="13396"/>
                  </a:cubicBezTo>
                  <a:lnTo>
                    <a:pt x="6733" y="12728"/>
                  </a:lnTo>
                  <a:lnTo>
                    <a:pt x="13396" y="12728"/>
                  </a:lnTo>
                  <a:cubicBezTo>
                    <a:pt x="13620" y="12728"/>
                    <a:pt x="13805" y="12543"/>
                    <a:pt x="13805" y="12321"/>
                  </a:cubicBezTo>
                  <a:lnTo>
                    <a:pt x="13805" y="2559"/>
                  </a:lnTo>
                  <a:cubicBezTo>
                    <a:pt x="13805" y="2337"/>
                    <a:pt x="13620" y="2163"/>
                    <a:pt x="13396" y="2163"/>
                  </a:cubicBezTo>
                  <a:lnTo>
                    <a:pt x="7505" y="2163"/>
                  </a:lnTo>
                  <a:lnTo>
                    <a:pt x="6537" y="222"/>
                  </a:lnTo>
                  <a:cubicBezTo>
                    <a:pt x="6467" y="82"/>
                    <a:pt x="6326" y="0"/>
                    <a:pt x="6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1" name="Google Shape;781;p31"/>
            <p:cNvSpPr/>
            <p:nvPr/>
          </p:nvSpPr>
          <p:spPr>
            <a:xfrm>
              <a:off x="7867363" y="1848875"/>
              <a:ext cx="41525" cy="20525"/>
            </a:xfrm>
            <a:custGeom>
              <a:rect b="b" l="l" r="r" t="t"/>
              <a:pathLst>
                <a:path extrusionOk="0" h="821" w="1661">
                  <a:moveTo>
                    <a:pt x="432" y="1"/>
                  </a:moveTo>
                  <a:cubicBezTo>
                    <a:pt x="222" y="1"/>
                    <a:pt x="48" y="152"/>
                    <a:pt x="23" y="363"/>
                  </a:cubicBezTo>
                  <a:cubicBezTo>
                    <a:pt x="0" y="610"/>
                    <a:pt x="188" y="820"/>
                    <a:pt x="421" y="820"/>
                  </a:cubicBezTo>
                  <a:lnTo>
                    <a:pt x="1229" y="820"/>
                  </a:lnTo>
                  <a:cubicBezTo>
                    <a:pt x="1425" y="820"/>
                    <a:pt x="1613" y="669"/>
                    <a:pt x="1636" y="458"/>
                  </a:cubicBezTo>
                  <a:cubicBezTo>
                    <a:pt x="1661" y="211"/>
                    <a:pt x="1473" y="1"/>
                    <a:pt x="1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2" name="Google Shape;782;p31"/>
            <p:cNvSpPr/>
            <p:nvPr/>
          </p:nvSpPr>
          <p:spPr>
            <a:xfrm>
              <a:off x="7972263" y="1740450"/>
              <a:ext cx="116025" cy="60850"/>
            </a:xfrm>
            <a:custGeom>
              <a:rect b="b" l="l" r="r" t="t"/>
              <a:pathLst>
                <a:path extrusionOk="0" h="2434" w="4641">
                  <a:moveTo>
                    <a:pt x="3836" y="809"/>
                  </a:moveTo>
                  <a:lnTo>
                    <a:pt x="3836" y="1614"/>
                  </a:lnTo>
                  <a:lnTo>
                    <a:pt x="820" y="1614"/>
                  </a:lnTo>
                  <a:lnTo>
                    <a:pt x="820" y="809"/>
                  </a:lnTo>
                  <a:close/>
                  <a:moveTo>
                    <a:pt x="411" y="1"/>
                  </a:moveTo>
                  <a:cubicBezTo>
                    <a:pt x="189" y="1"/>
                    <a:pt x="1" y="189"/>
                    <a:pt x="1" y="411"/>
                  </a:cubicBezTo>
                  <a:lnTo>
                    <a:pt x="1" y="2024"/>
                  </a:lnTo>
                  <a:cubicBezTo>
                    <a:pt x="1" y="2245"/>
                    <a:pt x="189" y="2433"/>
                    <a:pt x="411" y="2433"/>
                  </a:cubicBezTo>
                  <a:lnTo>
                    <a:pt x="4243" y="2433"/>
                  </a:lnTo>
                  <a:cubicBezTo>
                    <a:pt x="4467" y="2433"/>
                    <a:pt x="4641" y="2245"/>
                    <a:pt x="4641" y="2024"/>
                  </a:cubicBezTo>
                  <a:lnTo>
                    <a:pt x="4641" y="411"/>
                  </a:lnTo>
                  <a:cubicBezTo>
                    <a:pt x="4641" y="189"/>
                    <a:pt x="4467" y="1"/>
                    <a:pt x="42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783" name="Google Shape;783;p31"/>
          <p:cNvSpPr/>
          <p:nvPr/>
        </p:nvSpPr>
        <p:spPr>
          <a:xfrm>
            <a:off x="3446700" y="1446125"/>
            <a:ext cx="2130900" cy="876600"/>
          </a:xfrm>
          <a:prstGeom prst="rect">
            <a:avLst/>
          </a:prstGeom>
          <a:solidFill>
            <a:srgbClr val="46406B">
              <a:alpha val="200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ATTRIBUTE EXTRACTION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84" name="Google Shape;784;p31"/>
          <p:cNvSpPr/>
          <p:nvPr/>
        </p:nvSpPr>
        <p:spPr>
          <a:xfrm>
            <a:off x="6179600" y="1446125"/>
            <a:ext cx="2130900" cy="876600"/>
          </a:xfrm>
          <a:prstGeom prst="rect">
            <a:avLst/>
          </a:prstGeom>
          <a:solidFill>
            <a:srgbClr val="46406B">
              <a:alpha val="200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PAIR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GENERATION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85" name="Google Shape;785;p31"/>
          <p:cNvSpPr/>
          <p:nvPr/>
        </p:nvSpPr>
        <p:spPr>
          <a:xfrm>
            <a:off x="833500" y="3321875"/>
            <a:ext cx="2130900" cy="876600"/>
          </a:xfrm>
          <a:prstGeom prst="rect">
            <a:avLst/>
          </a:prstGeom>
          <a:solidFill>
            <a:srgbClr val="46406B">
              <a:alpha val="200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MODEL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APPLICATION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786" name="Google Shape;786;p31"/>
          <p:cNvGrpSpPr/>
          <p:nvPr/>
        </p:nvGrpSpPr>
        <p:grpSpPr>
          <a:xfrm>
            <a:off x="1740250" y="3410875"/>
            <a:ext cx="317375" cy="345350"/>
            <a:chOff x="1011863" y="1545075"/>
            <a:chExt cx="317375" cy="345350"/>
          </a:xfrm>
        </p:grpSpPr>
        <p:sp>
          <p:nvSpPr>
            <p:cNvPr id="787" name="Google Shape;787;p31"/>
            <p:cNvSpPr/>
            <p:nvPr/>
          </p:nvSpPr>
          <p:spPr>
            <a:xfrm>
              <a:off x="1011863" y="1545075"/>
              <a:ext cx="317375" cy="345350"/>
            </a:xfrm>
            <a:custGeom>
              <a:rect b="b" l="l" r="r" t="t"/>
              <a:pathLst>
                <a:path extrusionOk="0" h="13814" w="12695">
                  <a:moveTo>
                    <a:pt x="5809" y="813"/>
                  </a:moveTo>
                  <a:cubicBezTo>
                    <a:pt x="5837" y="813"/>
                    <a:pt x="5864" y="813"/>
                    <a:pt x="5891" y="814"/>
                  </a:cubicBezTo>
                  <a:cubicBezTo>
                    <a:pt x="8593" y="862"/>
                    <a:pt x="10789" y="3154"/>
                    <a:pt x="10789" y="5841"/>
                  </a:cubicBezTo>
                  <a:lnTo>
                    <a:pt x="10789" y="6882"/>
                  </a:lnTo>
                  <a:cubicBezTo>
                    <a:pt x="10789" y="6963"/>
                    <a:pt x="10812" y="7033"/>
                    <a:pt x="10859" y="7103"/>
                  </a:cubicBezTo>
                  <a:lnTo>
                    <a:pt x="11679" y="8343"/>
                  </a:lnTo>
                  <a:lnTo>
                    <a:pt x="11011" y="8669"/>
                  </a:lnTo>
                  <a:cubicBezTo>
                    <a:pt x="10907" y="8728"/>
                    <a:pt x="10823" y="8834"/>
                    <a:pt x="10801" y="8963"/>
                  </a:cubicBezTo>
                  <a:lnTo>
                    <a:pt x="10649" y="9710"/>
                  </a:lnTo>
                  <a:lnTo>
                    <a:pt x="10122" y="9710"/>
                  </a:lnTo>
                  <a:cubicBezTo>
                    <a:pt x="9925" y="9710"/>
                    <a:pt x="9737" y="9861"/>
                    <a:pt x="9715" y="10071"/>
                  </a:cubicBezTo>
                  <a:cubicBezTo>
                    <a:pt x="9690" y="10318"/>
                    <a:pt x="9878" y="10517"/>
                    <a:pt x="10110" y="10517"/>
                  </a:cubicBezTo>
                  <a:lnTo>
                    <a:pt x="10498" y="10517"/>
                  </a:lnTo>
                  <a:lnTo>
                    <a:pt x="10402" y="11008"/>
                  </a:lnTo>
                  <a:cubicBezTo>
                    <a:pt x="10357" y="11194"/>
                    <a:pt x="10192" y="11323"/>
                    <a:pt x="10007" y="11323"/>
                  </a:cubicBezTo>
                  <a:lnTo>
                    <a:pt x="8183" y="11323"/>
                  </a:lnTo>
                  <a:cubicBezTo>
                    <a:pt x="7586" y="10492"/>
                    <a:pt x="6615" y="9979"/>
                    <a:pt x="5577" y="9979"/>
                  </a:cubicBezTo>
                  <a:lnTo>
                    <a:pt x="2702" y="9979"/>
                  </a:lnTo>
                  <a:cubicBezTo>
                    <a:pt x="1565" y="9067"/>
                    <a:pt x="819" y="7406"/>
                    <a:pt x="819" y="5807"/>
                  </a:cubicBezTo>
                  <a:cubicBezTo>
                    <a:pt x="819" y="3052"/>
                    <a:pt x="3053" y="813"/>
                    <a:pt x="5809" y="813"/>
                  </a:cubicBezTo>
                  <a:close/>
                  <a:moveTo>
                    <a:pt x="5577" y="10787"/>
                  </a:moveTo>
                  <a:cubicBezTo>
                    <a:pt x="6371" y="10787"/>
                    <a:pt x="7120" y="11194"/>
                    <a:pt x="7552" y="11850"/>
                  </a:cubicBezTo>
                  <a:lnTo>
                    <a:pt x="7552" y="12995"/>
                  </a:lnTo>
                  <a:lnTo>
                    <a:pt x="2968" y="12995"/>
                  </a:lnTo>
                  <a:lnTo>
                    <a:pt x="2968" y="10787"/>
                  </a:lnTo>
                  <a:close/>
                  <a:moveTo>
                    <a:pt x="5786" y="0"/>
                  </a:moveTo>
                  <a:cubicBezTo>
                    <a:pt x="5550" y="0"/>
                    <a:pt x="5312" y="14"/>
                    <a:pt x="5072" y="42"/>
                  </a:cubicBezTo>
                  <a:cubicBezTo>
                    <a:pt x="4045" y="171"/>
                    <a:pt x="3052" y="581"/>
                    <a:pt x="2233" y="1223"/>
                  </a:cubicBezTo>
                  <a:cubicBezTo>
                    <a:pt x="808" y="2357"/>
                    <a:pt x="0" y="4018"/>
                    <a:pt x="0" y="5807"/>
                  </a:cubicBezTo>
                  <a:cubicBezTo>
                    <a:pt x="0" y="6730"/>
                    <a:pt x="222" y="7676"/>
                    <a:pt x="631" y="8554"/>
                  </a:cubicBezTo>
                  <a:cubicBezTo>
                    <a:pt x="1018" y="9370"/>
                    <a:pt x="1543" y="10071"/>
                    <a:pt x="2163" y="10576"/>
                  </a:cubicBezTo>
                  <a:lnTo>
                    <a:pt x="2163" y="13404"/>
                  </a:lnTo>
                  <a:cubicBezTo>
                    <a:pt x="2163" y="13626"/>
                    <a:pt x="2337" y="13814"/>
                    <a:pt x="2573" y="13814"/>
                  </a:cubicBezTo>
                  <a:lnTo>
                    <a:pt x="7962" y="13814"/>
                  </a:lnTo>
                  <a:cubicBezTo>
                    <a:pt x="8183" y="13814"/>
                    <a:pt x="8357" y="13626"/>
                    <a:pt x="8357" y="13404"/>
                  </a:cubicBezTo>
                  <a:lnTo>
                    <a:pt x="8357" y="12142"/>
                  </a:lnTo>
                  <a:lnTo>
                    <a:pt x="9995" y="12142"/>
                  </a:lnTo>
                  <a:cubicBezTo>
                    <a:pt x="10568" y="12142"/>
                    <a:pt x="11070" y="11732"/>
                    <a:pt x="11188" y="11160"/>
                  </a:cubicBezTo>
                  <a:lnTo>
                    <a:pt x="11550" y="9314"/>
                  </a:lnTo>
                  <a:lnTo>
                    <a:pt x="12450" y="8857"/>
                  </a:lnTo>
                  <a:cubicBezTo>
                    <a:pt x="12554" y="8809"/>
                    <a:pt x="12635" y="8716"/>
                    <a:pt x="12660" y="8599"/>
                  </a:cubicBezTo>
                  <a:cubicBezTo>
                    <a:pt x="12694" y="8484"/>
                    <a:pt x="12672" y="8366"/>
                    <a:pt x="12613" y="8273"/>
                  </a:cubicBezTo>
                  <a:lnTo>
                    <a:pt x="11594" y="6753"/>
                  </a:lnTo>
                  <a:lnTo>
                    <a:pt x="11594" y="5841"/>
                  </a:lnTo>
                  <a:cubicBezTo>
                    <a:pt x="11594" y="4346"/>
                    <a:pt x="11033" y="2895"/>
                    <a:pt x="10007" y="1810"/>
                  </a:cubicBezTo>
                  <a:cubicBezTo>
                    <a:pt x="8896" y="648"/>
                    <a:pt x="7393" y="0"/>
                    <a:pt x="57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8" name="Google Shape;788;p31"/>
            <p:cNvSpPr/>
            <p:nvPr/>
          </p:nvSpPr>
          <p:spPr>
            <a:xfrm>
              <a:off x="1065363" y="1592275"/>
              <a:ext cx="183225" cy="182200"/>
            </a:xfrm>
            <a:custGeom>
              <a:rect b="b" l="l" r="r" t="t"/>
              <a:pathLst>
                <a:path extrusionOk="0" h="7288" w="7329">
                  <a:moveTo>
                    <a:pt x="5317" y="1616"/>
                  </a:moveTo>
                  <a:lnTo>
                    <a:pt x="5681" y="1989"/>
                  </a:lnTo>
                  <a:lnTo>
                    <a:pt x="5681" y="5297"/>
                  </a:lnTo>
                  <a:lnTo>
                    <a:pt x="5317" y="5659"/>
                  </a:lnTo>
                  <a:lnTo>
                    <a:pt x="2009" y="5659"/>
                  </a:lnTo>
                  <a:lnTo>
                    <a:pt x="1636" y="5297"/>
                  </a:lnTo>
                  <a:lnTo>
                    <a:pt x="1636" y="1989"/>
                  </a:lnTo>
                  <a:lnTo>
                    <a:pt x="2009" y="1616"/>
                  </a:lnTo>
                  <a:close/>
                  <a:moveTo>
                    <a:pt x="2047" y="1"/>
                  </a:moveTo>
                  <a:cubicBezTo>
                    <a:pt x="1822" y="1"/>
                    <a:pt x="1636" y="181"/>
                    <a:pt x="1636" y="413"/>
                  </a:cubicBezTo>
                  <a:lnTo>
                    <a:pt x="1636" y="867"/>
                  </a:lnTo>
                  <a:cubicBezTo>
                    <a:pt x="1614" y="878"/>
                    <a:pt x="1577" y="904"/>
                    <a:pt x="1555" y="926"/>
                  </a:cubicBezTo>
                  <a:lnTo>
                    <a:pt x="946" y="1535"/>
                  </a:lnTo>
                  <a:cubicBezTo>
                    <a:pt x="923" y="1557"/>
                    <a:pt x="898" y="1591"/>
                    <a:pt x="887" y="1616"/>
                  </a:cubicBezTo>
                  <a:lnTo>
                    <a:pt x="433" y="1616"/>
                  </a:lnTo>
                  <a:cubicBezTo>
                    <a:pt x="233" y="1616"/>
                    <a:pt x="45" y="1779"/>
                    <a:pt x="23" y="1978"/>
                  </a:cubicBezTo>
                  <a:cubicBezTo>
                    <a:pt x="1" y="2222"/>
                    <a:pt x="186" y="2433"/>
                    <a:pt x="433" y="2433"/>
                  </a:cubicBezTo>
                  <a:lnTo>
                    <a:pt x="828" y="2433"/>
                  </a:lnTo>
                  <a:lnTo>
                    <a:pt x="828" y="3240"/>
                  </a:lnTo>
                  <a:lnTo>
                    <a:pt x="433" y="3240"/>
                  </a:lnTo>
                  <a:cubicBezTo>
                    <a:pt x="233" y="3240"/>
                    <a:pt x="45" y="3392"/>
                    <a:pt x="23" y="3602"/>
                  </a:cubicBezTo>
                  <a:cubicBezTo>
                    <a:pt x="1" y="3835"/>
                    <a:pt x="186" y="4046"/>
                    <a:pt x="433" y="4046"/>
                  </a:cubicBezTo>
                  <a:lnTo>
                    <a:pt x="828" y="4046"/>
                  </a:lnTo>
                  <a:lnTo>
                    <a:pt x="828" y="4854"/>
                  </a:lnTo>
                  <a:lnTo>
                    <a:pt x="433" y="4854"/>
                  </a:lnTo>
                  <a:cubicBezTo>
                    <a:pt x="233" y="4854"/>
                    <a:pt x="45" y="5005"/>
                    <a:pt x="23" y="5215"/>
                  </a:cubicBezTo>
                  <a:cubicBezTo>
                    <a:pt x="1" y="5462"/>
                    <a:pt x="186" y="5659"/>
                    <a:pt x="433" y="5659"/>
                  </a:cubicBezTo>
                  <a:lnTo>
                    <a:pt x="887" y="5659"/>
                  </a:lnTo>
                  <a:cubicBezTo>
                    <a:pt x="898" y="5695"/>
                    <a:pt x="923" y="5718"/>
                    <a:pt x="946" y="5754"/>
                  </a:cubicBezTo>
                  <a:lnTo>
                    <a:pt x="1555" y="6360"/>
                  </a:lnTo>
                  <a:cubicBezTo>
                    <a:pt x="1577" y="6385"/>
                    <a:pt x="1614" y="6408"/>
                    <a:pt x="1636" y="6419"/>
                  </a:cubicBezTo>
                  <a:lnTo>
                    <a:pt x="1636" y="6865"/>
                  </a:lnTo>
                  <a:cubicBezTo>
                    <a:pt x="1636" y="7075"/>
                    <a:pt x="1788" y="7260"/>
                    <a:pt x="1998" y="7286"/>
                  </a:cubicBezTo>
                  <a:cubicBezTo>
                    <a:pt x="2011" y="7287"/>
                    <a:pt x="2025" y="7288"/>
                    <a:pt x="2038" y="7288"/>
                  </a:cubicBezTo>
                  <a:cubicBezTo>
                    <a:pt x="2267" y="7288"/>
                    <a:pt x="2455" y="7107"/>
                    <a:pt x="2455" y="6876"/>
                  </a:cubicBezTo>
                  <a:lnTo>
                    <a:pt x="2455" y="6478"/>
                  </a:lnTo>
                  <a:lnTo>
                    <a:pt x="3260" y="6478"/>
                  </a:lnTo>
                  <a:lnTo>
                    <a:pt x="3260" y="6865"/>
                  </a:lnTo>
                  <a:cubicBezTo>
                    <a:pt x="3260" y="7075"/>
                    <a:pt x="3412" y="7260"/>
                    <a:pt x="3611" y="7286"/>
                  </a:cubicBezTo>
                  <a:cubicBezTo>
                    <a:pt x="3624" y="7287"/>
                    <a:pt x="3638" y="7288"/>
                    <a:pt x="3651" y="7288"/>
                  </a:cubicBezTo>
                  <a:cubicBezTo>
                    <a:pt x="3880" y="7288"/>
                    <a:pt x="4068" y="7107"/>
                    <a:pt x="4068" y="6876"/>
                  </a:cubicBezTo>
                  <a:lnTo>
                    <a:pt x="4068" y="6478"/>
                  </a:lnTo>
                  <a:lnTo>
                    <a:pt x="4873" y="6478"/>
                  </a:lnTo>
                  <a:lnTo>
                    <a:pt x="4873" y="6865"/>
                  </a:lnTo>
                  <a:cubicBezTo>
                    <a:pt x="4873" y="7075"/>
                    <a:pt x="5025" y="7260"/>
                    <a:pt x="5235" y="7286"/>
                  </a:cubicBezTo>
                  <a:cubicBezTo>
                    <a:pt x="5249" y="7287"/>
                    <a:pt x="5262" y="7288"/>
                    <a:pt x="5275" y="7288"/>
                  </a:cubicBezTo>
                  <a:cubicBezTo>
                    <a:pt x="5503" y="7288"/>
                    <a:pt x="5681" y="7107"/>
                    <a:pt x="5681" y="6876"/>
                  </a:cubicBezTo>
                  <a:lnTo>
                    <a:pt x="5681" y="6419"/>
                  </a:lnTo>
                  <a:cubicBezTo>
                    <a:pt x="5715" y="6408"/>
                    <a:pt x="5737" y="6385"/>
                    <a:pt x="5774" y="6360"/>
                  </a:cubicBezTo>
                  <a:lnTo>
                    <a:pt x="6369" y="5754"/>
                  </a:lnTo>
                  <a:cubicBezTo>
                    <a:pt x="6405" y="5718"/>
                    <a:pt x="6416" y="5695"/>
                    <a:pt x="6439" y="5659"/>
                  </a:cubicBezTo>
                  <a:lnTo>
                    <a:pt x="6885" y="5659"/>
                  </a:lnTo>
                  <a:cubicBezTo>
                    <a:pt x="7095" y="5659"/>
                    <a:pt x="7280" y="5507"/>
                    <a:pt x="7306" y="5308"/>
                  </a:cubicBezTo>
                  <a:cubicBezTo>
                    <a:pt x="7328" y="5064"/>
                    <a:pt x="7140" y="4854"/>
                    <a:pt x="6896" y="4854"/>
                  </a:cubicBezTo>
                  <a:lnTo>
                    <a:pt x="6498" y="4854"/>
                  </a:lnTo>
                  <a:lnTo>
                    <a:pt x="6498" y="4046"/>
                  </a:lnTo>
                  <a:lnTo>
                    <a:pt x="6885" y="4046"/>
                  </a:lnTo>
                  <a:cubicBezTo>
                    <a:pt x="7095" y="4046"/>
                    <a:pt x="7280" y="3894"/>
                    <a:pt x="7306" y="3684"/>
                  </a:cubicBezTo>
                  <a:cubicBezTo>
                    <a:pt x="7328" y="3451"/>
                    <a:pt x="7140" y="3240"/>
                    <a:pt x="6896" y="3240"/>
                  </a:cubicBezTo>
                  <a:lnTo>
                    <a:pt x="6498" y="3240"/>
                  </a:lnTo>
                  <a:lnTo>
                    <a:pt x="6498" y="2433"/>
                  </a:lnTo>
                  <a:lnTo>
                    <a:pt x="6896" y="2433"/>
                  </a:lnTo>
                  <a:cubicBezTo>
                    <a:pt x="7140" y="2433"/>
                    <a:pt x="7328" y="2222"/>
                    <a:pt x="7306" y="1978"/>
                  </a:cubicBezTo>
                  <a:cubicBezTo>
                    <a:pt x="7280" y="1779"/>
                    <a:pt x="7095" y="1616"/>
                    <a:pt x="6885" y="1616"/>
                  </a:cubicBezTo>
                  <a:lnTo>
                    <a:pt x="6439" y="1616"/>
                  </a:lnTo>
                  <a:cubicBezTo>
                    <a:pt x="6416" y="1591"/>
                    <a:pt x="6405" y="1557"/>
                    <a:pt x="6369" y="1535"/>
                  </a:cubicBezTo>
                  <a:lnTo>
                    <a:pt x="5774" y="926"/>
                  </a:lnTo>
                  <a:cubicBezTo>
                    <a:pt x="5737" y="904"/>
                    <a:pt x="5715" y="878"/>
                    <a:pt x="5681" y="867"/>
                  </a:cubicBezTo>
                  <a:lnTo>
                    <a:pt x="5681" y="424"/>
                  </a:lnTo>
                  <a:cubicBezTo>
                    <a:pt x="5681" y="214"/>
                    <a:pt x="5527" y="26"/>
                    <a:pt x="5331" y="3"/>
                  </a:cubicBezTo>
                  <a:cubicBezTo>
                    <a:pt x="5316" y="2"/>
                    <a:pt x="5301" y="1"/>
                    <a:pt x="5286" y="1"/>
                  </a:cubicBezTo>
                  <a:cubicBezTo>
                    <a:pt x="5059" y="1"/>
                    <a:pt x="4873" y="181"/>
                    <a:pt x="4873" y="413"/>
                  </a:cubicBezTo>
                  <a:lnTo>
                    <a:pt x="4873" y="808"/>
                  </a:lnTo>
                  <a:lnTo>
                    <a:pt x="4068" y="808"/>
                  </a:lnTo>
                  <a:lnTo>
                    <a:pt x="4068" y="424"/>
                  </a:lnTo>
                  <a:cubicBezTo>
                    <a:pt x="4068" y="214"/>
                    <a:pt x="3914" y="26"/>
                    <a:pt x="3704" y="3"/>
                  </a:cubicBezTo>
                  <a:cubicBezTo>
                    <a:pt x="3689" y="2"/>
                    <a:pt x="3674" y="1"/>
                    <a:pt x="3660" y="1"/>
                  </a:cubicBezTo>
                  <a:cubicBezTo>
                    <a:pt x="3436" y="1"/>
                    <a:pt x="3260" y="181"/>
                    <a:pt x="3260" y="413"/>
                  </a:cubicBezTo>
                  <a:lnTo>
                    <a:pt x="3260" y="808"/>
                  </a:lnTo>
                  <a:lnTo>
                    <a:pt x="2455" y="808"/>
                  </a:lnTo>
                  <a:lnTo>
                    <a:pt x="2455" y="424"/>
                  </a:lnTo>
                  <a:cubicBezTo>
                    <a:pt x="2455" y="214"/>
                    <a:pt x="2301" y="26"/>
                    <a:pt x="2090" y="3"/>
                  </a:cubicBezTo>
                  <a:cubicBezTo>
                    <a:pt x="2076" y="2"/>
                    <a:pt x="2061" y="1"/>
                    <a:pt x="20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9" name="Google Shape;789;p31"/>
            <p:cNvSpPr/>
            <p:nvPr/>
          </p:nvSpPr>
          <p:spPr>
            <a:xfrm>
              <a:off x="1126738" y="1653075"/>
              <a:ext cx="60750" cy="60825"/>
            </a:xfrm>
            <a:custGeom>
              <a:rect b="b" l="l" r="r" t="t"/>
              <a:pathLst>
                <a:path extrusionOk="0" h="2433" w="2430">
                  <a:moveTo>
                    <a:pt x="1215" y="820"/>
                  </a:moveTo>
                  <a:cubicBezTo>
                    <a:pt x="1437" y="820"/>
                    <a:pt x="1624" y="996"/>
                    <a:pt x="1624" y="1218"/>
                  </a:cubicBezTo>
                  <a:cubicBezTo>
                    <a:pt x="1624" y="1440"/>
                    <a:pt x="1437" y="1628"/>
                    <a:pt x="1215" y="1628"/>
                  </a:cubicBezTo>
                  <a:cubicBezTo>
                    <a:pt x="993" y="1628"/>
                    <a:pt x="817" y="1440"/>
                    <a:pt x="817" y="1218"/>
                  </a:cubicBezTo>
                  <a:cubicBezTo>
                    <a:pt x="817" y="996"/>
                    <a:pt x="993" y="820"/>
                    <a:pt x="1215" y="820"/>
                  </a:cubicBezTo>
                  <a:close/>
                  <a:moveTo>
                    <a:pt x="1215" y="1"/>
                  </a:moveTo>
                  <a:cubicBezTo>
                    <a:pt x="547" y="1"/>
                    <a:pt x="0" y="550"/>
                    <a:pt x="0" y="1218"/>
                  </a:cubicBezTo>
                  <a:cubicBezTo>
                    <a:pt x="0" y="1883"/>
                    <a:pt x="547" y="2433"/>
                    <a:pt x="1215" y="2433"/>
                  </a:cubicBezTo>
                  <a:cubicBezTo>
                    <a:pt x="1880" y="2433"/>
                    <a:pt x="2430" y="1883"/>
                    <a:pt x="2430" y="1218"/>
                  </a:cubicBezTo>
                  <a:cubicBezTo>
                    <a:pt x="2430" y="550"/>
                    <a:pt x="1880" y="1"/>
                    <a:pt x="1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790" name="Google Shape;790;p31"/>
          <p:cNvSpPr/>
          <p:nvPr/>
        </p:nvSpPr>
        <p:spPr>
          <a:xfrm>
            <a:off x="3446700" y="3321875"/>
            <a:ext cx="2130900" cy="876600"/>
          </a:xfrm>
          <a:prstGeom prst="rect">
            <a:avLst/>
          </a:prstGeom>
          <a:solidFill>
            <a:srgbClr val="46406B">
              <a:alpha val="2000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MATCH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SELECTION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791" name="Google Shape;791;p31"/>
          <p:cNvGrpSpPr/>
          <p:nvPr/>
        </p:nvGrpSpPr>
        <p:grpSpPr>
          <a:xfrm>
            <a:off x="4336033" y="3448100"/>
            <a:ext cx="352230" cy="348542"/>
            <a:chOff x="1049375" y="2318350"/>
            <a:chExt cx="298525" cy="295400"/>
          </a:xfrm>
        </p:grpSpPr>
        <p:sp>
          <p:nvSpPr>
            <p:cNvPr id="792" name="Google Shape;792;p31"/>
            <p:cNvSpPr/>
            <p:nvPr/>
          </p:nvSpPr>
          <p:spPr>
            <a:xfrm>
              <a:off x="1101350" y="2492325"/>
              <a:ext cx="70125" cy="50525"/>
            </a:xfrm>
            <a:custGeom>
              <a:rect b="b" l="l" r="r" t="t"/>
              <a:pathLst>
                <a:path extrusionOk="0" h="2021" w="2805">
                  <a:moveTo>
                    <a:pt x="2473" y="0"/>
                  </a:moveTo>
                  <a:cubicBezTo>
                    <a:pt x="2377" y="0"/>
                    <a:pt x="2273" y="32"/>
                    <a:pt x="2206" y="99"/>
                  </a:cubicBezTo>
                  <a:lnTo>
                    <a:pt x="1072" y="1233"/>
                  </a:lnTo>
                  <a:lnTo>
                    <a:pt x="599" y="761"/>
                  </a:lnTo>
                  <a:cubicBezTo>
                    <a:pt x="536" y="713"/>
                    <a:pt x="449" y="690"/>
                    <a:pt x="363" y="690"/>
                  </a:cubicBezTo>
                  <a:cubicBezTo>
                    <a:pt x="276" y="690"/>
                    <a:pt x="189" y="713"/>
                    <a:pt x="126" y="761"/>
                  </a:cubicBezTo>
                  <a:cubicBezTo>
                    <a:pt x="0" y="887"/>
                    <a:pt x="0" y="1139"/>
                    <a:pt x="126" y="1233"/>
                  </a:cubicBezTo>
                  <a:lnTo>
                    <a:pt x="820" y="1958"/>
                  </a:lnTo>
                  <a:cubicBezTo>
                    <a:pt x="914" y="2021"/>
                    <a:pt x="977" y="2021"/>
                    <a:pt x="1072" y="2021"/>
                  </a:cubicBezTo>
                  <a:cubicBezTo>
                    <a:pt x="1135" y="2021"/>
                    <a:pt x="1261" y="1989"/>
                    <a:pt x="1292" y="1926"/>
                  </a:cubicBezTo>
                  <a:lnTo>
                    <a:pt x="2678" y="540"/>
                  </a:lnTo>
                  <a:cubicBezTo>
                    <a:pt x="2804" y="414"/>
                    <a:pt x="2804" y="162"/>
                    <a:pt x="2678" y="68"/>
                  </a:cubicBezTo>
                  <a:cubicBezTo>
                    <a:pt x="2634" y="24"/>
                    <a:pt x="2557" y="0"/>
                    <a:pt x="24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1"/>
            <p:cNvSpPr/>
            <p:nvPr/>
          </p:nvSpPr>
          <p:spPr>
            <a:xfrm>
              <a:off x="1101350" y="2440525"/>
              <a:ext cx="70125" cy="51150"/>
            </a:xfrm>
            <a:custGeom>
              <a:rect b="b" l="l" r="r" t="t"/>
              <a:pathLst>
                <a:path extrusionOk="0" h="2046" w="2805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38"/>
                    <a:pt x="449" y="714"/>
                    <a:pt x="363" y="714"/>
                  </a:cubicBezTo>
                  <a:cubicBezTo>
                    <a:pt x="276" y="714"/>
                    <a:pt x="189" y="738"/>
                    <a:pt x="126" y="785"/>
                  </a:cubicBezTo>
                  <a:cubicBezTo>
                    <a:pt x="0" y="911"/>
                    <a:pt x="0" y="1163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4"/>
                    <a:pt x="1292" y="1951"/>
                  </a:cubicBezTo>
                  <a:lnTo>
                    <a:pt x="2678" y="564"/>
                  </a:lnTo>
                  <a:cubicBezTo>
                    <a:pt x="2804" y="438"/>
                    <a:pt x="2804" y="186"/>
                    <a:pt x="2678" y="92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1"/>
            <p:cNvSpPr/>
            <p:nvPr/>
          </p:nvSpPr>
          <p:spPr>
            <a:xfrm>
              <a:off x="1101350" y="2388550"/>
              <a:ext cx="70125" cy="51125"/>
            </a:xfrm>
            <a:custGeom>
              <a:rect b="b" l="l" r="r" t="t"/>
              <a:pathLst>
                <a:path extrusionOk="0" h="2045" w="2805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22"/>
                    <a:pt x="449" y="690"/>
                    <a:pt x="363" y="690"/>
                  </a:cubicBezTo>
                  <a:cubicBezTo>
                    <a:pt x="276" y="690"/>
                    <a:pt x="189" y="722"/>
                    <a:pt x="126" y="785"/>
                  </a:cubicBezTo>
                  <a:cubicBezTo>
                    <a:pt x="0" y="911"/>
                    <a:pt x="0" y="1131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3"/>
                    <a:pt x="1292" y="1919"/>
                  </a:cubicBezTo>
                  <a:lnTo>
                    <a:pt x="2678" y="532"/>
                  </a:lnTo>
                  <a:cubicBezTo>
                    <a:pt x="2804" y="438"/>
                    <a:pt x="2804" y="186"/>
                    <a:pt x="2678" y="91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1"/>
            <p:cNvSpPr/>
            <p:nvPr/>
          </p:nvSpPr>
          <p:spPr>
            <a:xfrm>
              <a:off x="1049375" y="2318350"/>
              <a:ext cx="298525" cy="295400"/>
            </a:xfrm>
            <a:custGeom>
              <a:rect b="b" l="l" r="r" t="t"/>
              <a:pathLst>
                <a:path extrusionOk="0" h="11816" w="11941">
                  <a:moveTo>
                    <a:pt x="6963" y="1198"/>
                  </a:moveTo>
                  <a:lnTo>
                    <a:pt x="7876" y="2143"/>
                  </a:lnTo>
                  <a:lnTo>
                    <a:pt x="6963" y="2143"/>
                  </a:lnTo>
                  <a:lnTo>
                    <a:pt x="6963" y="1198"/>
                  </a:lnTo>
                  <a:close/>
                  <a:moveTo>
                    <a:pt x="10286" y="3498"/>
                  </a:moveTo>
                  <a:cubicBezTo>
                    <a:pt x="10373" y="3498"/>
                    <a:pt x="10460" y="3530"/>
                    <a:pt x="10523" y="3593"/>
                  </a:cubicBezTo>
                  <a:lnTo>
                    <a:pt x="10995" y="4065"/>
                  </a:lnTo>
                  <a:cubicBezTo>
                    <a:pt x="11184" y="4223"/>
                    <a:pt x="11184" y="4475"/>
                    <a:pt x="11027" y="4569"/>
                  </a:cubicBezTo>
                  <a:lnTo>
                    <a:pt x="10806" y="4821"/>
                  </a:lnTo>
                  <a:lnTo>
                    <a:pt x="9798" y="3845"/>
                  </a:lnTo>
                  <a:lnTo>
                    <a:pt x="10050" y="3593"/>
                  </a:lnTo>
                  <a:cubicBezTo>
                    <a:pt x="10113" y="3530"/>
                    <a:pt x="10200" y="3498"/>
                    <a:pt x="10286" y="3498"/>
                  </a:cubicBezTo>
                  <a:close/>
                  <a:moveTo>
                    <a:pt x="9294" y="4349"/>
                  </a:moveTo>
                  <a:lnTo>
                    <a:pt x="10271" y="5325"/>
                  </a:lnTo>
                  <a:lnTo>
                    <a:pt x="7845" y="7783"/>
                  </a:lnTo>
                  <a:lnTo>
                    <a:pt x="6868" y="6774"/>
                  </a:lnTo>
                  <a:lnTo>
                    <a:pt x="9294" y="4349"/>
                  </a:lnTo>
                  <a:close/>
                  <a:moveTo>
                    <a:pt x="6585" y="7499"/>
                  </a:moveTo>
                  <a:lnTo>
                    <a:pt x="7183" y="8098"/>
                  </a:lnTo>
                  <a:lnTo>
                    <a:pt x="6427" y="8255"/>
                  </a:lnTo>
                  <a:lnTo>
                    <a:pt x="6585" y="7499"/>
                  </a:lnTo>
                  <a:close/>
                  <a:moveTo>
                    <a:pt x="6994" y="10398"/>
                  </a:moveTo>
                  <a:lnTo>
                    <a:pt x="6994" y="10776"/>
                  </a:lnTo>
                  <a:cubicBezTo>
                    <a:pt x="6994" y="10870"/>
                    <a:pt x="7057" y="10996"/>
                    <a:pt x="7089" y="11122"/>
                  </a:cubicBezTo>
                  <a:lnTo>
                    <a:pt x="1071" y="11122"/>
                  </a:lnTo>
                  <a:cubicBezTo>
                    <a:pt x="882" y="11122"/>
                    <a:pt x="693" y="10965"/>
                    <a:pt x="693" y="10776"/>
                  </a:cubicBezTo>
                  <a:lnTo>
                    <a:pt x="693" y="10398"/>
                  </a:lnTo>
                  <a:close/>
                  <a:moveTo>
                    <a:pt x="6270" y="663"/>
                  </a:moveTo>
                  <a:lnTo>
                    <a:pt x="6270" y="2458"/>
                  </a:lnTo>
                  <a:cubicBezTo>
                    <a:pt x="6270" y="2647"/>
                    <a:pt x="6427" y="2805"/>
                    <a:pt x="6616" y="2805"/>
                  </a:cubicBezTo>
                  <a:lnTo>
                    <a:pt x="8349" y="2805"/>
                  </a:lnTo>
                  <a:lnTo>
                    <a:pt x="8349" y="4286"/>
                  </a:lnTo>
                  <a:lnTo>
                    <a:pt x="6112" y="6554"/>
                  </a:lnTo>
                  <a:cubicBezTo>
                    <a:pt x="6081" y="6585"/>
                    <a:pt x="6018" y="6680"/>
                    <a:pt x="6018" y="6711"/>
                  </a:cubicBezTo>
                  <a:lnTo>
                    <a:pt x="5608" y="8633"/>
                  </a:lnTo>
                  <a:cubicBezTo>
                    <a:pt x="5545" y="8759"/>
                    <a:pt x="5608" y="8885"/>
                    <a:pt x="5671" y="8948"/>
                  </a:cubicBezTo>
                  <a:cubicBezTo>
                    <a:pt x="5742" y="9019"/>
                    <a:pt x="5813" y="9055"/>
                    <a:pt x="5897" y="9055"/>
                  </a:cubicBezTo>
                  <a:cubicBezTo>
                    <a:pt x="5925" y="9055"/>
                    <a:pt x="5955" y="9051"/>
                    <a:pt x="5986" y="9043"/>
                  </a:cubicBezTo>
                  <a:lnTo>
                    <a:pt x="7908" y="8602"/>
                  </a:lnTo>
                  <a:cubicBezTo>
                    <a:pt x="8002" y="8602"/>
                    <a:pt x="8034" y="8570"/>
                    <a:pt x="8065" y="8507"/>
                  </a:cubicBezTo>
                  <a:lnTo>
                    <a:pt x="8349" y="8255"/>
                  </a:lnTo>
                  <a:lnTo>
                    <a:pt x="8349" y="10807"/>
                  </a:lnTo>
                  <a:lnTo>
                    <a:pt x="8380" y="10807"/>
                  </a:lnTo>
                  <a:cubicBezTo>
                    <a:pt x="8380" y="10996"/>
                    <a:pt x="8223" y="11154"/>
                    <a:pt x="8034" y="11154"/>
                  </a:cubicBezTo>
                  <a:cubicBezTo>
                    <a:pt x="7845" y="11154"/>
                    <a:pt x="7687" y="10996"/>
                    <a:pt x="7687" y="10807"/>
                  </a:cubicBezTo>
                  <a:lnTo>
                    <a:pt x="7687" y="10083"/>
                  </a:lnTo>
                  <a:cubicBezTo>
                    <a:pt x="7687" y="9893"/>
                    <a:pt x="7530" y="9736"/>
                    <a:pt x="7309" y="9736"/>
                  </a:cubicBezTo>
                  <a:lnTo>
                    <a:pt x="1386" y="9736"/>
                  </a:lnTo>
                  <a:lnTo>
                    <a:pt x="1386" y="663"/>
                  </a:lnTo>
                  <a:close/>
                  <a:moveTo>
                    <a:pt x="1071" y="1"/>
                  </a:moveTo>
                  <a:cubicBezTo>
                    <a:pt x="882" y="1"/>
                    <a:pt x="693" y="158"/>
                    <a:pt x="693" y="379"/>
                  </a:cubicBezTo>
                  <a:lnTo>
                    <a:pt x="693" y="9736"/>
                  </a:lnTo>
                  <a:lnTo>
                    <a:pt x="347" y="9736"/>
                  </a:lnTo>
                  <a:cubicBezTo>
                    <a:pt x="158" y="9736"/>
                    <a:pt x="0" y="9893"/>
                    <a:pt x="0" y="10083"/>
                  </a:cubicBezTo>
                  <a:lnTo>
                    <a:pt x="0" y="10807"/>
                  </a:lnTo>
                  <a:cubicBezTo>
                    <a:pt x="0" y="11406"/>
                    <a:pt x="473" y="11815"/>
                    <a:pt x="1008" y="11815"/>
                  </a:cubicBezTo>
                  <a:lnTo>
                    <a:pt x="8002" y="11815"/>
                  </a:lnTo>
                  <a:cubicBezTo>
                    <a:pt x="8569" y="11815"/>
                    <a:pt x="9011" y="11343"/>
                    <a:pt x="9011" y="10807"/>
                  </a:cubicBezTo>
                  <a:lnTo>
                    <a:pt x="9011" y="7562"/>
                  </a:lnTo>
                  <a:lnTo>
                    <a:pt x="11499" y="5105"/>
                  </a:lnTo>
                  <a:cubicBezTo>
                    <a:pt x="11940" y="4664"/>
                    <a:pt x="11940" y="4034"/>
                    <a:pt x="11531" y="3593"/>
                  </a:cubicBezTo>
                  <a:lnTo>
                    <a:pt x="11058" y="3120"/>
                  </a:lnTo>
                  <a:cubicBezTo>
                    <a:pt x="10869" y="2931"/>
                    <a:pt x="10609" y="2836"/>
                    <a:pt x="10346" y="2836"/>
                  </a:cubicBezTo>
                  <a:cubicBezTo>
                    <a:pt x="10082" y="2836"/>
                    <a:pt x="9814" y="2931"/>
                    <a:pt x="9609" y="3120"/>
                  </a:cubicBezTo>
                  <a:lnTo>
                    <a:pt x="9105" y="3624"/>
                  </a:lnTo>
                  <a:lnTo>
                    <a:pt x="9105" y="2490"/>
                  </a:lnTo>
                  <a:cubicBezTo>
                    <a:pt x="9105" y="2427"/>
                    <a:pt x="9074" y="2332"/>
                    <a:pt x="8979" y="2269"/>
                  </a:cubicBezTo>
                  <a:lnTo>
                    <a:pt x="6900" y="127"/>
                  </a:lnTo>
                  <a:cubicBezTo>
                    <a:pt x="6805" y="64"/>
                    <a:pt x="6742" y="1"/>
                    <a:pt x="66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6" name="Google Shape;796;p31"/>
          <p:cNvGrpSpPr/>
          <p:nvPr/>
        </p:nvGrpSpPr>
        <p:grpSpPr>
          <a:xfrm>
            <a:off x="7068821" y="1567013"/>
            <a:ext cx="352455" cy="340168"/>
            <a:chOff x="3857225" y="238125"/>
            <a:chExt cx="500575" cy="483125"/>
          </a:xfrm>
        </p:grpSpPr>
        <p:sp>
          <p:nvSpPr>
            <p:cNvPr id="797" name="Google Shape;797;p31"/>
            <p:cNvSpPr/>
            <p:nvPr/>
          </p:nvSpPr>
          <p:spPr>
            <a:xfrm>
              <a:off x="3857225" y="238125"/>
              <a:ext cx="500575" cy="483125"/>
            </a:xfrm>
            <a:custGeom>
              <a:rect b="b" l="l" r="r" t="t"/>
              <a:pathLst>
                <a:path extrusionOk="0" h="19325" w="20023">
                  <a:moveTo>
                    <a:pt x="15671" y="3398"/>
                  </a:moveTo>
                  <a:cubicBezTo>
                    <a:pt x="15707" y="3398"/>
                    <a:pt x="15744" y="3402"/>
                    <a:pt x="15780" y="3409"/>
                  </a:cubicBezTo>
                  <a:lnTo>
                    <a:pt x="15801" y="3415"/>
                  </a:lnTo>
                  <a:cubicBezTo>
                    <a:pt x="15814" y="3415"/>
                    <a:pt x="15823" y="3418"/>
                    <a:pt x="15835" y="3421"/>
                  </a:cubicBezTo>
                  <a:cubicBezTo>
                    <a:pt x="15844" y="3424"/>
                    <a:pt x="15856" y="3430"/>
                    <a:pt x="15868" y="3433"/>
                  </a:cubicBezTo>
                  <a:lnTo>
                    <a:pt x="15886" y="3439"/>
                  </a:lnTo>
                  <a:cubicBezTo>
                    <a:pt x="15892" y="3442"/>
                    <a:pt x="15898" y="3445"/>
                    <a:pt x="15904" y="3448"/>
                  </a:cubicBezTo>
                  <a:cubicBezTo>
                    <a:pt x="15922" y="3457"/>
                    <a:pt x="15943" y="3466"/>
                    <a:pt x="15964" y="3478"/>
                  </a:cubicBezTo>
                  <a:cubicBezTo>
                    <a:pt x="15986" y="3494"/>
                    <a:pt x="16010" y="3509"/>
                    <a:pt x="16031" y="3524"/>
                  </a:cubicBezTo>
                  <a:cubicBezTo>
                    <a:pt x="16046" y="3536"/>
                    <a:pt x="16058" y="3551"/>
                    <a:pt x="16073" y="3563"/>
                  </a:cubicBezTo>
                  <a:cubicBezTo>
                    <a:pt x="16085" y="3575"/>
                    <a:pt x="16100" y="3590"/>
                    <a:pt x="16112" y="3605"/>
                  </a:cubicBezTo>
                  <a:cubicBezTo>
                    <a:pt x="16294" y="3829"/>
                    <a:pt x="16279" y="4158"/>
                    <a:pt x="16073" y="4363"/>
                  </a:cubicBezTo>
                  <a:lnTo>
                    <a:pt x="13054" y="7383"/>
                  </a:lnTo>
                  <a:cubicBezTo>
                    <a:pt x="12939" y="7232"/>
                    <a:pt x="12815" y="7090"/>
                    <a:pt x="12682" y="6954"/>
                  </a:cubicBezTo>
                  <a:cubicBezTo>
                    <a:pt x="12546" y="6821"/>
                    <a:pt x="12405" y="6697"/>
                    <a:pt x="12254" y="6582"/>
                  </a:cubicBezTo>
                  <a:lnTo>
                    <a:pt x="15273" y="3563"/>
                  </a:lnTo>
                  <a:cubicBezTo>
                    <a:pt x="15380" y="3456"/>
                    <a:pt x="15523" y="3398"/>
                    <a:pt x="15671" y="3398"/>
                  </a:cubicBezTo>
                  <a:close/>
                  <a:moveTo>
                    <a:pt x="9887" y="9183"/>
                  </a:moveTo>
                  <a:cubicBezTo>
                    <a:pt x="10031" y="9183"/>
                    <a:pt x="10176" y="9238"/>
                    <a:pt x="10288" y="9348"/>
                  </a:cubicBezTo>
                  <a:cubicBezTo>
                    <a:pt x="10511" y="9575"/>
                    <a:pt x="10508" y="9937"/>
                    <a:pt x="10279" y="10157"/>
                  </a:cubicBezTo>
                  <a:cubicBezTo>
                    <a:pt x="10169" y="10268"/>
                    <a:pt x="10024" y="10323"/>
                    <a:pt x="9879" y="10323"/>
                  </a:cubicBezTo>
                  <a:cubicBezTo>
                    <a:pt x="9734" y="10323"/>
                    <a:pt x="9589" y="10268"/>
                    <a:pt x="9479" y="10157"/>
                  </a:cubicBezTo>
                  <a:cubicBezTo>
                    <a:pt x="9258" y="9937"/>
                    <a:pt x="9258" y="9578"/>
                    <a:pt x="9479" y="9357"/>
                  </a:cubicBezTo>
                  <a:cubicBezTo>
                    <a:pt x="9590" y="9241"/>
                    <a:pt x="9739" y="9183"/>
                    <a:pt x="9887" y="9183"/>
                  </a:cubicBezTo>
                  <a:close/>
                  <a:moveTo>
                    <a:pt x="15746" y="1062"/>
                  </a:moveTo>
                  <a:cubicBezTo>
                    <a:pt x="16469" y="1062"/>
                    <a:pt x="17193" y="1337"/>
                    <a:pt x="17746" y="1890"/>
                  </a:cubicBezTo>
                  <a:cubicBezTo>
                    <a:pt x="18878" y="3022"/>
                    <a:pt x="18845" y="4870"/>
                    <a:pt x="17673" y="5963"/>
                  </a:cubicBezTo>
                  <a:lnTo>
                    <a:pt x="11879" y="11758"/>
                  </a:lnTo>
                  <a:cubicBezTo>
                    <a:pt x="11337" y="12300"/>
                    <a:pt x="10612" y="12586"/>
                    <a:pt x="9878" y="12586"/>
                  </a:cubicBezTo>
                  <a:cubicBezTo>
                    <a:pt x="9472" y="12586"/>
                    <a:pt x="9062" y="12499"/>
                    <a:pt x="8679" y="12319"/>
                  </a:cubicBezTo>
                  <a:lnTo>
                    <a:pt x="8663" y="12313"/>
                  </a:lnTo>
                  <a:cubicBezTo>
                    <a:pt x="8198" y="12093"/>
                    <a:pt x="7803" y="11746"/>
                    <a:pt x="7516" y="11317"/>
                  </a:cubicBezTo>
                  <a:lnTo>
                    <a:pt x="8346" y="10487"/>
                  </a:lnTo>
                  <a:cubicBezTo>
                    <a:pt x="8645" y="11113"/>
                    <a:pt x="9259" y="11453"/>
                    <a:pt x="9883" y="11453"/>
                  </a:cubicBezTo>
                  <a:cubicBezTo>
                    <a:pt x="10311" y="11453"/>
                    <a:pt x="10744" y="11293"/>
                    <a:pt x="11082" y="10955"/>
                  </a:cubicBezTo>
                  <a:lnTo>
                    <a:pt x="16873" y="5160"/>
                  </a:lnTo>
                  <a:cubicBezTo>
                    <a:pt x="17541" y="4514"/>
                    <a:pt x="17562" y="3448"/>
                    <a:pt x="16922" y="2775"/>
                  </a:cubicBezTo>
                  <a:cubicBezTo>
                    <a:pt x="16588" y="2423"/>
                    <a:pt x="16140" y="2245"/>
                    <a:pt x="15690" y="2245"/>
                  </a:cubicBezTo>
                  <a:cubicBezTo>
                    <a:pt x="15275" y="2245"/>
                    <a:pt x="14860" y="2395"/>
                    <a:pt x="14533" y="2699"/>
                  </a:cubicBezTo>
                  <a:cubicBezTo>
                    <a:pt x="14512" y="2718"/>
                    <a:pt x="14491" y="2739"/>
                    <a:pt x="14470" y="2760"/>
                  </a:cubicBezTo>
                  <a:lnTo>
                    <a:pt x="11212" y="6021"/>
                  </a:lnTo>
                  <a:cubicBezTo>
                    <a:pt x="10783" y="5867"/>
                    <a:pt x="10333" y="5791"/>
                    <a:pt x="9877" y="5791"/>
                  </a:cubicBezTo>
                  <a:lnTo>
                    <a:pt x="9838" y="5791"/>
                  </a:lnTo>
                  <a:lnTo>
                    <a:pt x="13673" y="1963"/>
                  </a:lnTo>
                  <a:cubicBezTo>
                    <a:pt x="14232" y="1363"/>
                    <a:pt x="14988" y="1062"/>
                    <a:pt x="15746" y="1062"/>
                  </a:cubicBezTo>
                  <a:close/>
                  <a:moveTo>
                    <a:pt x="6707" y="12129"/>
                  </a:moveTo>
                  <a:cubicBezTo>
                    <a:pt x="6819" y="12283"/>
                    <a:pt x="6942" y="12425"/>
                    <a:pt x="7078" y="12558"/>
                  </a:cubicBezTo>
                  <a:cubicBezTo>
                    <a:pt x="7211" y="12694"/>
                    <a:pt x="7353" y="12818"/>
                    <a:pt x="7507" y="12932"/>
                  </a:cubicBezTo>
                  <a:lnTo>
                    <a:pt x="4675" y="15762"/>
                  </a:lnTo>
                  <a:cubicBezTo>
                    <a:pt x="4565" y="15872"/>
                    <a:pt x="4420" y="15927"/>
                    <a:pt x="4275" y="15927"/>
                  </a:cubicBezTo>
                  <a:cubicBezTo>
                    <a:pt x="4130" y="15927"/>
                    <a:pt x="3985" y="15872"/>
                    <a:pt x="3875" y="15762"/>
                  </a:cubicBezTo>
                  <a:cubicBezTo>
                    <a:pt x="3654" y="15541"/>
                    <a:pt x="3654" y="15182"/>
                    <a:pt x="3875" y="14961"/>
                  </a:cubicBezTo>
                  <a:lnTo>
                    <a:pt x="6707" y="12129"/>
                  </a:lnTo>
                  <a:close/>
                  <a:moveTo>
                    <a:pt x="9884" y="6926"/>
                  </a:moveTo>
                  <a:cubicBezTo>
                    <a:pt x="10290" y="6926"/>
                    <a:pt x="10698" y="7013"/>
                    <a:pt x="11082" y="7192"/>
                  </a:cubicBezTo>
                  <a:lnTo>
                    <a:pt x="11094" y="7198"/>
                  </a:lnTo>
                  <a:cubicBezTo>
                    <a:pt x="11562" y="7422"/>
                    <a:pt x="11958" y="7766"/>
                    <a:pt x="12242" y="8198"/>
                  </a:cubicBezTo>
                  <a:lnTo>
                    <a:pt x="11411" y="9028"/>
                  </a:lnTo>
                  <a:cubicBezTo>
                    <a:pt x="11112" y="8400"/>
                    <a:pt x="10499" y="8061"/>
                    <a:pt x="9877" y="8061"/>
                  </a:cubicBezTo>
                  <a:cubicBezTo>
                    <a:pt x="9448" y="8061"/>
                    <a:pt x="9016" y="8222"/>
                    <a:pt x="8679" y="8560"/>
                  </a:cubicBezTo>
                  <a:lnTo>
                    <a:pt x="3074" y="14161"/>
                  </a:lnTo>
                  <a:cubicBezTo>
                    <a:pt x="2410" y="14822"/>
                    <a:pt x="2410" y="15900"/>
                    <a:pt x="3074" y="16562"/>
                  </a:cubicBezTo>
                  <a:cubicBezTo>
                    <a:pt x="3405" y="16894"/>
                    <a:pt x="3840" y="17060"/>
                    <a:pt x="4275" y="17060"/>
                  </a:cubicBezTo>
                  <a:cubicBezTo>
                    <a:pt x="4710" y="17060"/>
                    <a:pt x="5144" y="16894"/>
                    <a:pt x="5475" y="16562"/>
                  </a:cubicBezTo>
                  <a:lnTo>
                    <a:pt x="8546" y="13491"/>
                  </a:lnTo>
                  <a:cubicBezTo>
                    <a:pt x="8974" y="13642"/>
                    <a:pt x="9424" y="13720"/>
                    <a:pt x="9880" y="13720"/>
                  </a:cubicBezTo>
                  <a:lnTo>
                    <a:pt x="9920" y="13720"/>
                  </a:lnTo>
                  <a:lnTo>
                    <a:pt x="6275" y="17362"/>
                  </a:lnTo>
                  <a:cubicBezTo>
                    <a:pt x="5716" y="17961"/>
                    <a:pt x="4960" y="18262"/>
                    <a:pt x="4202" y="18262"/>
                  </a:cubicBezTo>
                  <a:cubicBezTo>
                    <a:pt x="3479" y="18262"/>
                    <a:pt x="2755" y="17987"/>
                    <a:pt x="2202" y="17434"/>
                  </a:cubicBezTo>
                  <a:cubicBezTo>
                    <a:pt x="1070" y="16302"/>
                    <a:pt x="1103" y="14454"/>
                    <a:pt x="2274" y="13361"/>
                  </a:cubicBezTo>
                  <a:lnTo>
                    <a:pt x="7878" y="7757"/>
                  </a:lnTo>
                  <a:cubicBezTo>
                    <a:pt x="8422" y="7214"/>
                    <a:pt x="9147" y="6926"/>
                    <a:pt x="9884" y="6926"/>
                  </a:cubicBezTo>
                  <a:close/>
                  <a:moveTo>
                    <a:pt x="15673" y="1"/>
                  </a:moveTo>
                  <a:cubicBezTo>
                    <a:pt x="14659" y="1"/>
                    <a:pt x="13644" y="388"/>
                    <a:pt x="12870" y="1162"/>
                  </a:cubicBezTo>
                  <a:lnTo>
                    <a:pt x="7078" y="6957"/>
                  </a:lnTo>
                  <a:lnTo>
                    <a:pt x="1471" y="12561"/>
                  </a:lnTo>
                  <a:cubicBezTo>
                    <a:pt x="339" y="13693"/>
                    <a:pt x="1" y="15399"/>
                    <a:pt x="614" y="16879"/>
                  </a:cubicBezTo>
                  <a:cubicBezTo>
                    <a:pt x="1230" y="18358"/>
                    <a:pt x="2673" y="19324"/>
                    <a:pt x="4276" y="19324"/>
                  </a:cubicBezTo>
                  <a:cubicBezTo>
                    <a:pt x="4280" y="19325"/>
                    <a:pt x="4284" y="19325"/>
                    <a:pt x="4288" y="19325"/>
                  </a:cubicBezTo>
                  <a:cubicBezTo>
                    <a:pt x="5334" y="19325"/>
                    <a:pt x="6338" y="18908"/>
                    <a:pt x="7078" y="18165"/>
                  </a:cubicBezTo>
                  <a:lnTo>
                    <a:pt x="12682" y="12561"/>
                  </a:lnTo>
                  <a:lnTo>
                    <a:pt x="18477" y="6767"/>
                  </a:lnTo>
                  <a:cubicBezTo>
                    <a:pt x="20023" y="5221"/>
                    <a:pt x="20023" y="2711"/>
                    <a:pt x="18477" y="1162"/>
                  </a:cubicBezTo>
                  <a:cubicBezTo>
                    <a:pt x="17702" y="388"/>
                    <a:pt x="16688" y="1"/>
                    <a:pt x="15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98" name="Google Shape;798;p31"/>
            <p:cNvSpPr/>
            <p:nvPr/>
          </p:nvSpPr>
          <p:spPr>
            <a:xfrm>
              <a:off x="4208775" y="588000"/>
              <a:ext cx="71125" cy="68350"/>
            </a:xfrm>
            <a:custGeom>
              <a:rect b="b" l="l" r="r" t="t"/>
              <a:pathLst>
                <a:path extrusionOk="0" h="2734" w="2845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0" y="387"/>
                    <a:pt x="0" y="746"/>
                    <a:pt x="221" y="966"/>
                  </a:cubicBezTo>
                  <a:lnTo>
                    <a:pt x="1821" y="2567"/>
                  </a:lnTo>
                  <a:cubicBezTo>
                    <a:pt x="1933" y="2677"/>
                    <a:pt x="2079" y="2733"/>
                    <a:pt x="2224" y="2733"/>
                  </a:cubicBezTo>
                  <a:cubicBezTo>
                    <a:pt x="2368" y="2733"/>
                    <a:pt x="2513" y="2678"/>
                    <a:pt x="2624" y="2567"/>
                  </a:cubicBezTo>
                  <a:cubicBezTo>
                    <a:pt x="2845" y="2346"/>
                    <a:pt x="2845" y="1987"/>
                    <a:pt x="2624" y="1767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99" name="Google Shape;799;p31"/>
            <p:cNvSpPr/>
            <p:nvPr/>
          </p:nvSpPr>
          <p:spPr>
            <a:xfrm>
              <a:off x="4228400" y="527925"/>
              <a:ext cx="91050" cy="48400"/>
            </a:xfrm>
            <a:custGeom>
              <a:rect b="b" l="l" r="r" t="t"/>
              <a:pathLst>
                <a:path extrusionOk="0" h="1936" w="3642">
                  <a:moveTo>
                    <a:pt x="636" y="0"/>
                  </a:moveTo>
                  <a:cubicBezTo>
                    <a:pt x="400" y="0"/>
                    <a:pt x="180" y="150"/>
                    <a:pt x="100" y="389"/>
                  </a:cubicBezTo>
                  <a:cubicBezTo>
                    <a:pt x="0" y="685"/>
                    <a:pt x="160" y="1005"/>
                    <a:pt x="459" y="1105"/>
                  </a:cubicBezTo>
                  <a:lnTo>
                    <a:pt x="2860" y="1905"/>
                  </a:lnTo>
                  <a:cubicBezTo>
                    <a:pt x="2917" y="1923"/>
                    <a:pt x="2977" y="1935"/>
                    <a:pt x="3038" y="1935"/>
                  </a:cubicBezTo>
                  <a:cubicBezTo>
                    <a:pt x="3316" y="1932"/>
                    <a:pt x="3554" y="1733"/>
                    <a:pt x="3596" y="1458"/>
                  </a:cubicBezTo>
                  <a:cubicBezTo>
                    <a:pt x="3642" y="1183"/>
                    <a:pt x="3482" y="918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5" y="0"/>
                    <a:pt x="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00" name="Google Shape;800;p31"/>
            <p:cNvSpPr/>
            <p:nvPr/>
          </p:nvSpPr>
          <p:spPr>
            <a:xfrm>
              <a:off x="4148300" y="608000"/>
              <a:ext cx="52050" cy="88600"/>
            </a:xfrm>
            <a:custGeom>
              <a:rect b="b" l="l" r="r" t="t"/>
              <a:pathLst>
                <a:path extrusionOk="0" h="3544" w="2082">
                  <a:moveTo>
                    <a:pt x="639" y="1"/>
                  </a:moveTo>
                  <a:cubicBezTo>
                    <a:pt x="580" y="1"/>
                    <a:pt x="519" y="10"/>
                    <a:pt x="460" y="31"/>
                  </a:cubicBezTo>
                  <a:cubicBezTo>
                    <a:pt x="161" y="127"/>
                    <a:pt x="1" y="450"/>
                    <a:pt x="100" y="746"/>
                  </a:cubicBezTo>
                  <a:lnTo>
                    <a:pt x="903" y="3150"/>
                  </a:lnTo>
                  <a:cubicBezTo>
                    <a:pt x="979" y="3390"/>
                    <a:pt x="1202" y="3544"/>
                    <a:pt x="1441" y="3544"/>
                  </a:cubicBezTo>
                  <a:cubicBezTo>
                    <a:pt x="1500" y="3544"/>
                    <a:pt x="1560" y="3535"/>
                    <a:pt x="1619" y="3515"/>
                  </a:cubicBezTo>
                  <a:cubicBezTo>
                    <a:pt x="1921" y="3415"/>
                    <a:pt x="2081" y="3089"/>
                    <a:pt x="1975" y="2790"/>
                  </a:cubicBezTo>
                  <a:lnTo>
                    <a:pt x="1175" y="390"/>
                  </a:lnTo>
                  <a:cubicBezTo>
                    <a:pt x="1096" y="151"/>
                    <a:pt x="875" y="1"/>
                    <a:pt x="6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01" name="Google Shape;801;p31"/>
            <p:cNvSpPr/>
            <p:nvPr/>
          </p:nvSpPr>
          <p:spPr>
            <a:xfrm>
              <a:off x="3928725" y="307900"/>
              <a:ext cx="71200" cy="68375"/>
            </a:xfrm>
            <a:custGeom>
              <a:rect b="b" l="l" r="r" t="t"/>
              <a:pathLst>
                <a:path extrusionOk="0" h="2735" w="2848">
                  <a:moveTo>
                    <a:pt x="620" y="1"/>
                  </a:moveTo>
                  <a:cubicBezTo>
                    <a:pt x="475" y="1"/>
                    <a:pt x="330" y="57"/>
                    <a:pt x="221" y="168"/>
                  </a:cubicBezTo>
                  <a:cubicBezTo>
                    <a:pt x="3" y="385"/>
                    <a:pt x="0" y="739"/>
                    <a:pt x="214" y="962"/>
                  </a:cubicBezTo>
                  <a:lnTo>
                    <a:pt x="1815" y="2562"/>
                  </a:lnTo>
                  <a:cubicBezTo>
                    <a:pt x="1926" y="2677"/>
                    <a:pt x="2074" y="2734"/>
                    <a:pt x="2222" y="2734"/>
                  </a:cubicBezTo>
                  <a:cubicBezTo>
                    <a:pt x="2367" y="2734"/>
                    <a:pt x="2512" y="2679"/>
                    <a:pt x="2624" y="2569"/>
                  </a:cubicBezTo>
                  <a:cubicBezTo>
                    <a:pt x="2847" y="2345"/>
                    <a:pt x="2844" y="1983"/>
                    <a:pt x="2615" y="1762"/>
                  </a:cubicBezTo>
                  <a:lnTo>
                    <a:pt x="1015" y="162"/>
                  </a:lnTo>
                  <a:cubicBezTo>
                    <a:pt x="904" y="54"/>
                    <a:pt x="762" y="1"/>
                    <a:pt x="6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02" name="Google Shape;802;p31"/>
            <p:cNvSpPr/>
            <p:nvPr/>
          </p:nvSpPr>
          <p:spPr>
            <a:xfrm>
              <a:off x="4008200" y="267675"/>
              <a:ext cx="51875" cy="88450"/>
            </a:xfrm>
            <a:custGeom>
              <a:rect b="b" l="l" r="r" t="t"/>
              <a:pathLst>
                <a:path extrusionOk="0" h="3538" w="2075">
                  <a:moveTo>
                    <a:pt x="636" y="1"/>
                  </a:moveTo>
                  <a:cubicBezTo>
                    <a:pt x="577" y="1"/>
                    <a:pt x="518" y="10"/>
                    <a:pt x="460" y="29"/>
                  </a:cubicBezTo>
                  <a:cubicBezTo>
                    <a:pt x="161" y="128"/>
                    <a:pt x="1" y="449"/>
                    <a:pt x="100" y="747"/>
                  </a:cubicBezTo>
                  <a:lnTo>
                    <a:pt x="900" y="3151"/>
                  </a:lnTo>
                  <a:cubicBezTo>
                    <a:pt x="979" y="3380"/>
                    <a:pt x="1193" y="3537"/>
                    <a:pt x="1438" y="3537"/>
                  </a:cubicBezTo>
                  <a:cubicBezTo>
                    <a:pt x="1498" y="3534"/>
                    <a:pt x="1559" y="3525"/>
                    <a:pt x="1619" y="3507"/>
                  </a:cubicBezTo>
                  <a:cubicBezTo>
                    <a:pt x="1915" y="3408"/>
                    <a:pt x="2075" y="3088"/>
                    <a:pt x="1975" y="2789"/>
                  </a:cubicBezTo>
                  <a:lnTo>
                    <a:pt x="1175" y="388"/>
                  </a:lnTo>
                  <a:cubicBezTo>
                    <a:pt x="1095" y="151"/>
                    <a:pt x="873" y="1"/>
                    <a:pt x="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03" name="Google Shape;803;p31"/>
            <p:cNvSpPr/>
            <p:nvPr/>
          </p:nvSpPr>
          <p:spPr>
            <a:xfrm>
              <a:off x="3888100" y="387825"/>
              <a:ext cx="91675" cy="48300"/>
            </a:xfrm>
            <a:custGeom>
              <a:rect b="b" l="l" r="r" t="t"/>
              <a:pathLst>
                <a:path extrusionOk="0" h="1932" w="3667">
                  <a:moveTo>
                    <a:pt x="636" y="0"/>
                  </a:moveTo>
                  <a:cubicBezTo>
                    <a:pt x="400" y="0"/>
                    <a:pt x="180" y="150"/>
                    <a:pt x="100" y="386"/>
                  </a:cubicBezTo>
                  <a:cubicBezTo>
                    <a:pt x="1" y="685"/>
                    <a:pt x="161" y="1005"/>
                    <a:pt x="460" y="1105"/>
                  </a:cubicBezTo>
                  <a:lnTo>
                    <a:pt x="2860" y="1905"/>
                  </a:lnTo>
                  <a:cubicBezTo>
                    <a:pt x="2917" y="1923"/>
                    <a:pt x="2975" y="1932"/>
                    <a:pt x="3032" y="1932"/>
                  </a:cubicBezTo>
                  <a:cubicBezTo>
                    <a:pt x="3270" y="1932"/>
                    <a:pt x="3492" y="1781"/>
                    <a:pt x="3570" y="1543"/>
                  </a:cubicBezTo>
                  <a:cubicBezTo>
                    <a:pt x="3666" y="1250"/>
                    <a:pt x="3512" y="933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6" y="0"/>
                    <a:pt x="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04" name="Google Shape;804;p31"/>
          <p:cNvSpPr/>
          <p:nvPr/>
        </p:nvSpPr>
        <p:spPr>
          <a:xfrm>
            <a:off x="6179600" y="3321875"/>
            <a:ext cx="2130900" cy="876600"/>
          </a:xfrm>
          <a:prstGeom prst="rect">
            <a:avLst/>
          </a:prstGeom>
          <a:solidFill>
            <a:srgbClr val="46406B">
              <a:alpha val="2000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CANONICALIZATION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805" name="Google Shape;805;p31"/>
          <p:cNvGrpSpPr/>
          <p:nvPr/>
        </p:nvGrpSpPr>
        <p:grpSpPr>
          <a:xfrm>
            <a:off x="6966667" y="3373168"/>
            <a:ext cx="421914" cy="420759"/>
            <a:chOff x="-2571737" y="2403625"/>
            <a:chExt cx="292225" cy="291425"/>
          </a:xfrm>
        </p:grpSpPr>
        <p:sp>
          <p:nvSpPr>
            <p:cNvPr id="806" name="Google Shape;806;p31"/>
            <p:cNvSpPr/>
            <p:nvPr/>
          </p:nvSpPr>
          <p:spPr>
            <a:xfrm>
              <a:off x="-2571737" y="2403625"/>
              <a:ext cx="292225" cy="291425"/>
            </a:xfrm>
            <a:custGeom>
              <a:rect b="b" l="l" r="r" t="t"/>
              <a:pathLst>
                <a:path extrusionOk="0" h="11657" w="11689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1"/>
            <p:cNvSpPr/>
            <p:nvPr/>
          </p:nvSpPr>
          <p:spPr>
            <a:xfrm>
              <a:off x="-2485967" y="2649150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1"/>
            <p:cNvSpPr/>
            <p:nvPr/>
          </p:nvSpPr>
          <p:spPr>
            <a:xfrm>
              <a:off x="-2485967" y="2511325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1"/>
            <p:cNvSpPr/>
            <p:nvPr/>
          </p:nvSpPr>
          <p:spPr>
            <a:xfrm>
              <a:off x="-2540185" y="2511325"/>
              <a:ext cx="18125" cy="18925"/>
            </a:xfrm>
            <a:custGeom>
              <a:rect b="b" l="l" r="r" t="t"/>
              <a:pathLst>
                <a:path extrusionOk="0" h="757" w="725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1"/>
            <p:cNvSpPr/>
            <p:nvPr/>
          </p:nvSpPr>
          <p:spPr>
            <a:xfrm>
              <a:off x="-2485579" y="2580625"/>
              <a:ext cx="172525" cy="17350"/>
            </a:xfrm>
            <a:custGeom>
              <a:rect b="b" l="l" r="r" t="t"/>
              <a:pathLst>
                <a:path extrusionOk="0" h="694" w="6901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1"/>
            <p:cNvSpPr/>
            <p:nvPr/>
          </p:nvSpPr>
          <p:spPr>
            <a:xfrm>
              <a:off x="-2540185" y="2580625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1"/>
            <p:cNvSpPr/>
            <p:nvPr/>
          </p:nvSpPr>
          <p:spPr>
            <a:xfrm>
              <a:off x="-2540185" y="264915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3" name="Google Shape;813;p31"/>
          <p:cNvGrpSpPr/>
          <p:nvPr/>
        </p:nvGrpSpPr>
        <p:grpSpPr>
          <a:xfrm>
            <a:off x="4331647" y="1558118"/>
            <a:ext cx="361004" cy="357961"/>
            <a:chOff x="-47529700" y="2342000"/>
            <a:chExt cx="302450" cy="299900"/>
          </a:xfrm>
        </p:grpSpPr>
        <p:sp>
          <p:nvSpPr>
            <p:cNvPr id="814" name="Google Shape;814;p31"/>
            <p:cNvSpPr/>
            <p:nvPr/>
          </p:nvSpPr>
          <p:spPr>
            <a:xfrm>
              <a:off x="-47529700" y="2342000"/>
              <a:ext cx="302450" cy="299900"/>
            </a:xfrm>
            <a:custGeom>
              <a:rect b="b" l="l" r="r" t="t"/>
              <a:pathLst>
                <a:path extrusionOk="0" h="11996" w="12098">
                  <a:moveTo>
                    <a:pt x="7530" y="725"/>
                  </a:moveTo>
                  <a:cubicBezTo>
                    <a:pt x="9672" y="725"/>
                    <a:pt x="11405" y="2457"/>
                    <a:pt x="11405" y="4568"/>
                  </a:cubicBezTo>
                  <a:cubicBezTo>
                    <a:pt x="11405" y="6711"/>
                    <a:pt x="9672" y="8443"/>
                    <a:pt x="7530" y="8443"/>
                  </a:cubicBezTo>
                  <a:cubicBezTo>
                    <a:pt x="5419" y="8443"/>
                    <a:pt x="3686" y="6711"/>
                    <a:pt x="3686" y="4568"/>
                  </a:cubicBezTo>
                  <a:cubicBezTo>
                    <a:pt x="3686" y="2457"/>
                    <a:pt x="5419" y="725"/>
                    <a:pt x="7530" y="725"/>
                  </a:cubicBezTo>
                  <a:close/>
                  <a:moveTo>
                    <a:pt x="4064" y="7530"/>
                  </a:moveTo>
                  <a:cubicBezTo>
                    <a:pt x="4222" y="7719"/>
                    <a:pt x="4379" y="7876"/>
                    <a:pt x="4568" y="8034"/>
                  </a:cubicBezTo>
                  <a:lnTo>
                    <a:pt x="3686" y="8947"/>
                  </a:lnTo>
                  <a:lnTo>
                    <a:pt x="3151" y="8443"/>
                  </a:lnTo>
                  <a:lnTo>
                    <a:pt x="4064" y="7530"/>
                  </a:lnTo>
                  <a:close/>
                  <a:moveTo>
                    <a:pt x="2647" y="8916"/>
                  </a:moveTo>
                  <a:lnTo>
                    <a:pt x="3151" y="9420"/>
                  </a:lnTo>
                  <a:lnTo>
                    <a:pt x="1386" y="11184"/>
                  </a:lnTo>
                  <a:cubicBezTo>
                    <a:pt x="1323" y="11247"/>
                    <a:pt x="1237" y="11279"/>
                    <a:pt x="1146" y="11279"/>
                  </a:cubicBezTo>
                  <a:cubicBezTo>
                    <a:pt x="1056" y="11279"/>
                    <a:pt x="961" y="11247"/>
                    <a:pt x="882" y="11184"/>
                  </a:cubicBezTo>
                  <a:cubicBezTo>
                    <a:pt x="756" y="11090"/>
                    <a:pt x="756" y="10838"/>
                    <a:pt x="882" y="10680"/>
                  </a:cubicBezTo>
                  <a:lnTo>
                    <a:pt x="2647" y="8916"/>
                  </a:lnTo>
                  <a:close/>
                  <a:moveTo>
                    <a:pt x="7530" y="0"/>
                  </a:moveTo>
                  <a:cubicBezTo>
                    <a:pt x="5009" y="0"/>
                    <a:pt x="2962" y="2048"/>
                    <a:pt x="2962" y="4568"/>
                  </a:cubicBezTo>
                  <a:cubicBezTo>
                    <a:pt x="2962" y="5450"/>
                    <a:pt x="3214" y="6270"/>
                    <a:pt x="3623" y="6963"/>
                  </a:cubicBezTo>
                  <a:lnTo>
                    <a:pt x="410" y="10208"/>
                  </a:lnTo>
                  <a:cubicBezTo>
                    <a:pt x="0" y="10586"/>
                    <a:pt x="0" y="11279"/>
                    <a:pt x="410" y="11688"/>
                  </a:cubicBezTo>
                  <a:cubicBezTo>
                    <a:pt x="599" y="11893"/>
                    <a:pt x="867" y="11996"/>
                    <a:pt x="1138" y="11996"/>
                  </a:cubicBezTo>
                  <a:cubicBezTo>
                    <a:pt x="1410" y="11996"/>
                    <a:pt x="1686" y="11893"/>
                    <a:pt x="1890" y="11688"/>
                  </a:cubicBezTo>
                  <a:lnTo>
                    <a:pt x="5135" y="8475"/>
                  </a:lnTo>
                  <a:cubicBezTo>
                    <a:pt x="5829" y="8916"/>
                    <a:pt x="6679" y="9137"/>
                    <a:pt x="7530" y="9137"/>
                  </a:cubicBezTo>
                  <a:cubicBezTo>
                    <a:pt x="10050" y="9137"/>
                    <a:pt x="12098" y="7089"/>
                    <a:pt x="12098" y="4568"/>
                  </a:cubicBezTo>
                  <a:cubicBezTo>
                    <a:pt x="12098" y="2048"/>
                    <a:pt x="10050" y="0"/>
                    <a:pt x="7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1"/>
            <p:cNvSpPr/>
            <p:nvPr/>
          </p:nvSpPr>
          <p:spPr>
            <a:xfrm>
              <a:off x="-47404475" y="2395550"/>
              <a:ext cx="124475" cy="123675"/>
            </a:xfrm>
            <a:custGeom>
              <a:rect b="b" l="l" r="r" t="t"/>
              <a:pathLst>
                <a:path extrusionOk="0" h="4947" w="4979">
                  <a:moveTo>
                    <a:pt x="2804" y="2080"/>
                  </a:moveTo>
                  <a:cubicBezTo>
                    <a:pt x="2678" y="2395"/>
                    <a:pt x="2458" y="2647"/>
                    <a:pt x="2174" y="2710"/>
                  </a:cubicBezTo>
                  <a:lnTo>
                    <a:pt x="2174" y="2080"/>
                  </a:lnTo>
                  <a:close/>
                  <a:moveTo>
                    <a:pt x="1828" y="694"/>
                  </a:moveTo>
                  <a:cubicBezTo>
                    <a:pt x="2300" y="694"/>
                    <a:pt x="2678" y="977"/>
                    <a:pt x="2804" y="1418"/>
                  </a:cubicBezTo>
                  <a:lnTo>
                    <a:pt x="1828" y="1418"/>
                  </a:lnTo>
                  <a:cubicBezTo>
                    <a:pt x="1607" y="1418"/>
                    <a:pt x="1481" y="1576"/>
                    <a:pt x="1481" y="1765"/>
                  </a:cubicBezTo>
                  <a:lnTo>
                    <a:pt x="1481" y="2741"/>
                  </a:lnTo>
                  <a:cubicBezTo>
                    <a:pt x="1072" y="2584"/>
                    <a:pt x="757" y="2206"/>
                    <a:pt x="757" y="1765"/>
                  </a:cubicBezTo>
                  <a:cubicBezTo>
                    <a:pt x="757" y="1166"/>
                    <a:pt x="1229" y="694"/>
                    <a:pt x="1828" y="694"/>
                  </a:cubicBezTo>
                  <a:close/>
                  <a:moveTo>
                    <a:pt x="4254" y="2080"/>
                  </a:moveTo>
                  <a:lnTo>
                    <a:pt x="4254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4" y="3308"/>
                    <a:pt x="3371" y="2804"/>
                    <a:pt x="3498" y="2080"/>
                  </a:cubicBezTo>
                  <a:close/>
                  <a:moveTo>
                    <a:pt x="1796" y="0"/>
                  </a:moveTo>
                  <a:cubicBezTo>
                    <a:pt x="788" y="0"/>
                    <a:pt x="0" y="788"/>
                    <a:pt x="0" y="1765"/>
                  </a:cubicBezTo>
                  <a:cubicBezTo>
                    <a:pt x="0" y="2615"/>
                    <a:pt x="599" y="3340"/>
                    <a:pt x="1418" y="3497"/>
                  </a:cubicBezTo>
                  <a:lnTo>
                    <a:pt x="1418" y="4600"/>
                  </a:lnTo>
                  <a:cubicBezTo>
                    <a:pt x="1418" y="4789"/>
                    <a:pt x="1576" y="4947"/>
                    <a:pt x="1796" y="4947"/>
                  </a:cubicBezTo>
                  <a:lnTo>
                    <a:pt x="4569" y="4947"/>
                  </a:lnTo>
                  <a:cubicBezTo>
                    <a:pt x="4789" y="4947"/>
                    <a:pt x="4947" y="4789"/>
                    <a:pt x="4947" y="4600"/>
                  </a:cubicBezTo>
                  <a:lnTo>
                    <a:pt x="4947" y="1796"/>
                  </a:lnTo>
                  <a:cubicBezTo>
                    <a:pt x="4978" y="1576"/>
                    <a:pt x="4821" y="1418"/>
                    <a:pt x="4632" y="1418"/>
                  </a:cubicBezTo>
                  <a:lnTo>
                    <a:pt x="3498" y="1418"/>
                  </a:lnTo>
                  <a:cubicBezTo>
                    <a:pt x="3371" y="631"/>
                    <a:pt x="2647" y="0"/>
                    <a:pt x="1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16" name="Google Shape;816;p31"/>
          <p:cNvCxnSpPr>
            <a:stCxn id="778" idx="3"/>
            <a:endCxn id="783" idx="1"/>
          </p:cNvCxnSpPr>
          <p:nvPr/>
        </p:nvCxnSpPr>
        <p:spPr>
          <a:xfrm>
            <a:off x="2936950" y="1884425"/>
            <a:ext cx="509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1"/>
          <p:cNvCxnSpPr>
            <a:stCxn id="783" idx="3"/>
            <a:endCxn id="784" idx="1"/>
          </p:cNvCxnSpPr>
          <p:nvPr/>
        </p:nvCxnSpPr>
        <p:spPr>
          <a:xfrm>
            <a:off x="5577600" y="1884425"/>
            <a:ext cx="6021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8" name="Google Shape;818;p31"/>
          <p:cNvCxnSpPr>
            <a:stCxn id="784" idx="2"/>
            <a:endCxn id="785" idx="0"/>
          </p:cNvCxnSpPr>
          <p:nvPr/>
        </p:nvCxnSpPr>
        <p:spPr>
          <a:xfrm rot="5400000">
            <a:off x="4072400" y="149375"/>
            <a:ext cx="999300" cy="53460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9" name="Google Shape;819;p31"/>
          <p:cNvCxnSpPr>
            <a:stCxn id="785" idx="3"/>
            <a:endCxn id="790" idx="1"/>
          </p:cNvCxnSpPr>
          <p:nvPr/>
        </p:nvCxnSpPr>
        <p:spPr>
          <a:xfrm>
            <a:off x="2964400" y="3760175"/>
            <a:ext cx="482400" cy="600"/>
          </a:xfrm>
          <a:prstGeom prst="bentConnector3">
            <a:avLst>
              <a:gd fmla="val 4999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0" name="Google Shape;820;p31"/>
          <p:cNvCxnSpPr>
            <a:stCxn id="790" idx="3"/>
            <a:endCxn id="804" idx="1"/>
          </p:cNvCxnSpPr>
          <p:nvPr/>
        </p:nvCxnSpPr>
        <p:spPr>
          <a:xfrm>
            <a:off x="5577600" y="3760175"/>
            <a:ext cx="60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2"/>
          <p:cNvSpPr txBox="1"/>
          <p:nvPr>
            <p:ph type="title"/>
          </p:nvPr>
        </p:nvSpPr>
        <p:spPr>
          <a:xfrm>
            <a:off x="1136800" y="2325725"/>
            <a:ext cx="4086000" cy="98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PROJECT 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VALUE PROPOSITION</a:t>
            </a:r>
            <a:endParaRPr sz="2700"/>
          </a:p>
        </p:txBody>
      </p:sp>
      <p:sp>
        <p:nvSpPr>
          <p:cNvPr id="826" name="Google Shape;826;p32"/>
          <p:cNvSpPr txBox="1"/>
          <p:nvPr>
            <p:ph idx="2" type="title"/>
          </p:nvPr>
        </p:nvSpPr>
        <p:spPr>
          <a:xfrm>
            <a:off x="5024875" y="2325725"/>
            <a:ext cx="1343100" cy="98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27" name="Google Shape;827;p32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2"/>
          <p:cNvSpPr/>
          <p:nvPr/>
        </p:nvSpPr>
        <p:spPr>
          <a:xfrm>
            <a:off x="7016375" y="-1615175"/>
            <a:ext cx="1633483" cy="5920031"/>
          </a:xfrm>
          <a:custGeom>
            <a:rect b="b" l="l" r="r" t="t"/>
            <a:pathLst>
              <a:path extrusionOk="0" h="65507" w="18075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829" name="Google Shape;829;p32"/>
          <p:cNvGrpSpPr/>
          <p:nvPr/>
        </p:nvGrpSpPr>
        <p:grpSpPr>
          <a:xfrm flipH="1" rot="10800000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830" name="Google Shape;830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1" name="Google Shape;831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2" name="Google Shape;832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3" name="Google Shape;833;p32"/>
          <p:cNvGrpSpPr/>
          <p:nvPr/>
        </p:nvGrpSpPr>
        <p:grpSpPr>
          <a:xfrm flipH="1" rot="-5400000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834" name="Google Shape;834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5" name="Google Shape;835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6" name="Google Shape;836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7" name="Google Shape;837;p32"/>
          <p:cNvSpPr/>
          <p:nvPr/>
        </p:nvSpPr>
        <p:spPr>
          <a:xfrm rot="-5400000">
            <a:off x="5572485" y="-2452153"/>
            <a:ext cx="1971347" cy="6005438"/>
          </a:xfrm>
          <a:custGeom>
            <a:rect b="b" l="l" r="r" t="t"/>
            <a:pathLst>
              <a:path extrusionOk="0" h="191668" w="62917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838" name="Google Shape;838;p32"/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839" name="Google Shape;839;p32"/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2"/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2"/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3"/>
          <p:cNvSpPr txBox="1"/>
          <p:nvPr>
            <p:ph type="title"/>
          </p:nvPr>
        </p:nvSpPr>
        <p:spPr>
          <a:xfrm>
            <a:off x="789175" y="315975"/>
            <a:ext cx="7704000" cy="5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THE VALUE PROPOSITION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7" name="Google Shape;847;p33"/>
          <p:cNvSpPr txBox="1"/>
          <p:nvPr>
            <p:ph idx="2" type="subTitle"/>
          </p:nvPr>
        </p:nvSpPr>
        <p:spPr>
          <a:xfrm>
            <a:off x="1048000" y="1379650"/>
            <a:ext cx="3939300" cy="29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  <a:t>Developing an </a:t>
            </a:r>
            <a:r>
              <a:rPr b="1" lang="en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AI-POWERED SEMANTIC ENGINE</a:t>
            </a:r>
            <a:endParaRPr b="1" sz="1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  <a:t>that automatically harmonizes fragmented data.</a:t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  <a:t>Enabling Repertorio to scale the analysis of patient preferences for faster, </a:t>
            </a:r>
            <a:r>
              <a:rPr b="1" lang="en" sz="16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EVIDENCE-BASED DECISIONS.</a:t>
            </a:r>
            <a:endParaRPr b="1" sz="16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848" name="Google Shape;848;p33" title="E_SDG_goals_icons-individual-rgb-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3575" y="2067975"/>
            <a:ext cx="1122900" cy="112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33" title="E_SDG-goals_icons-individual-rgb-0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8213" y="2067963"/>
            <a:ext cx="1122900" cy="112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4"/>
          <p:cNvSpPr txBox="1"/>
          <p:nvPr>
            <p:ph type="title"/>
          </p:nvPr>
        </p:nvSpPr>
        <p:spPr>
          <a:xfrm>
            <a:off x="1136800" y="2325725"/>
            <a:ext cx="4086000" cy="98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PROJECT 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GENERAL OBJECTIVE</a:t>
            </a:r>
            <a:endParaRPr sz="2700"/>
          </a:p>
        </p:txBody>
      </p:sp>
      <p:sp>
        <p:nvSpPr>
          <p:cNvPr id="855" name="Google Shape;855;p34"/>
          <p:cNvSpPr txBox="1"/>
          <p:nvPr>
            <p:ph idx="2" type="title"/>
          </p:nvPr>
        </p:nvSpPr>
        <p:spPr>
          <a:xfrm>
            <a:off x="5222800" y="2325725"/>
            <a:ext cx="1343100" cy="98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56" name="Google Shape;856;p34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4"/>
          <p:cNvSpPr/>
          <p:nvPr/>
        </p:nvSpPr>
        <p:spPr>
          <a:xfrm>
            <a:off x="7016375" y="-1615175"/>
            <a:ext cx="1633483" cy="5920031"/>
          </a:xfrm>
          <a:custGeom>
            <a:rect b="b" l="l" r="r" t="t"/>
            <a:pathLst>
              <a:path extrusionOk="0" h="65507" w="18075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858" name="Google Shape;858;p34"/>
          <p:cNvGrpSpPr/>
          <p:nvPr/>
        </p:nvGrpSpPr>
        <p:grpSpPr>
          <a:xfrm flipH="1" rot="10800000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859" name="Google Shape;859;p34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0" name="Google Shape;860;p34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1" name="Google Shape;861;p34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2" name="Google Shape;862;p34"/>
          <p:cNvGrpSpPr/>
          <p:nvPr/>
        </p:nvGrpSpPr>
        <p:grpSpPr>
          <a:xfrm flipH="1" rot="-5400000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863" name="Google Shape;863;p34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4" name="Google Shape;864;p34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5" name="Google Shape;865;p34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6" name="Google Shape;866;p34"/>
          <p:cNvSpPr/>
          <p:nvPr/>
        </p:nvSpPr>
        <p:spPr>
          <a:xfrm rot="-5400000">
            <a:off x="5572485" y="-2452153"/>
            <a:ext cx="1971347" cy="6005438"/>
          </a:xfrm>
          <a:custGeom>
            <a:rect b="b" l="l" r="r" t="t"/>
            <a:pathLst>
              <a:path extrusionOk="0" h="191668" w="62917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867" name="Google Shape;867;p34"/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868" name="Google Shape;868;p34"/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4"/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4"/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5"/>
          <p:cNvSpPr txBox="1"/>
          <p:nvPr/>
        </p:nvSpPr>
        <p:spPr>
          <a:xfrm>
            <a:off x="4773000" y="1388500"/>
            <a:ext cx="3221700" cy="2368800"/>
          </a:xfrm>
          <a:prstGeom prst="rect">
            <a:avLst/>
          </a:prstGeom>
          <a:solidFill>
            <a:srgbClr val="46406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SEMANTIC MAPPING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Provide reliable similarity scores that Repertorio will use to map raw attributes to canonical concepts in their internal ontology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6" name="Google Shape;876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OBJECTIVE</a:t>
            </a:r>
            <a:endParaRPr/>
          </a:p>
        </p:txBody>
      </p:sp>
      <p:sp>
        <p:nvSpPr>
          <p:cNvPr id="877" name="Google Shape;877;p35"/>
          <p:cNvSpPr txBox="1"/>
          <p:nvPr/>
        </p:nvSpPr>
        <p:spPr>
          <a:xfrm>
            <a:off x="1149325" y="1388500"/>
            <a:ext cx="3221700" cy="2368800"/>
          </a:xfrm>
          <a:prstGeom prst="rect">
            <a:avLst/>
          </a:prstGeom>
          <a:solidFill>
            <a:srgbClr val="46406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BUILD THE AI ENGINE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Design and deploy the core AI model that aligns heterogeneous labels and concepts across ontologies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8" name="Google Shape;878;p35"/>
          <p:cNvSpPr txBox="1"/>
          <p:nvPr/>
        </p:nvSpPr>
        <p:spPr>
          <a:xfrm>
            <a:off x="2272213" y="3757350"/>
            <a:ext cx="46728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EXAMPLE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Fatigue   ⇔  Asthenia   ⇔  Lack of energy 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879" name="Google Shape;879;p35"/>
          <p:cNvGrpSpPr/>
          <p:nvPr/>
        </p:nvGrpSpPr>
        <p:grpSpPr>
          <a:xfrm>
            <a:off x="2567533" y="1538443"/>
            <a:ext cx="385288" cy="385286"/>
            <a:chOff x="-63252250" y="1930850"/>
            <a:chExt cx="319000" cy="319025"/>
          </a:xfrm>
        </p:grpSpPr>
        <p:sp>
          <p:nvSpPr>
            <p:cNvPr id="880" name="Google Shape;880;p35"/>
            <p:cNvSpPr/>
            <p:nvPr/>
          </p:nvSpPr>
          <p:spPr>
            <a:xfrm>
              <a:off x="-63252250" y="1930850"/>
              <a:ext cx="319000" cy="319025"/>
            </a:xfrm>
            <a:custGeom>
              <a:rect b="b" l="l" r="r" t="t"/>
              <a:pathLst>
                <a:path extrusionOk="0" h="12761" w="12760">
                  <a:moveTo>
                    <a:pt x="7026" y="914"/>
                  </a:moveTo>
                  <a:lnTo>
                    <a:pt x="7026" y="1954"/>
                  </a:lnTo>
                  <a:cubicBezTo>
                    <a:pt x="7026" y="2174"/>
                    <a:pt x="7120" y="2332"/>
                    <a:pt x="7341" y="2363"/>
                  </a:cubicBezTo>
                  <a:cubicBezTo>
                    <a:pt x="7813" y="2489"/>
                    <a:pt x="8286" y="2647"/>
                    <a:pt x="8664" y="2899"/>
                  </a:cubicBezTo>
                  <a:cubicBezTo>
                    <a:pt x="8733" y="2954"/>
                    <a:pt x="8820" y="2979"/>
                    <a:pt x="8905" y="2979"/>
                  </a:cubicBezTo>
                  <a:cubicBezTo>
                    <a:pt x="9012" y="2979"/>
                    <a:pt x="9115" y="2938"/>
                    <a:pt x="9168" y="2868"/>
                  </a:cubicBezTo>
                  <a:lnTo>
                    <a:pt x="9924" y="2111"/>
                  </a:lnTo>
                  <a:lnTo>
                    <a:pt x="10712" y="2899"/>
                  </a:lnTo>
                  <a:lnTo>
                    <a:pt x="9956" y="3655"/>
                  </a:lnTo>
                  <a:cubicBezTo>
                    <a:pt x="9861" y="3781"/>
                    <a:pt x="9798" y="4002"/>
                    <a:pt x="9924" y="4159"/>
                  </a:cubicBezTo>
                  <a:cubicBezTo>
                    <a:pt x="10208" y="4600"/>
                    <a:pt x="10397" y="5041"/>
                    <a:pt x="10460" y="5514"/>
                  </a:cubicBezTo>
                  <a:cubicBezTo>
                    <a:pt x="10523" y="5703"/>
                    <a:pt x="10680" y="5829"/>
                    <a:pt x="10869" y="5829"/>
                  </a:cubicBezTo>
                  <a:lnTo>
                    <a:pt x="11941" y="5829"/>
                  </a:lnTo>
                  <a:lnTo>
                    <a:pt x="11941" y="6932"/>
                  </a:lnTo>
                  <a:lnTo>
                    <a:pt x="10869" y="6932"/>
                  </a:lnTo>
                  <a:cubicBezTo>
                    <a:pt x="10680" y="6932"/>
                    <a:pt x="10523" y="7058"/>
                    <a:pt x="10460" y="7247"/>
                  </a:cubicBezTo>
                  <a:cubicBezTo>
                    <a:pt x="10365" y="7719"/>
                    <a:pt x="10208" y="8192"/>
                    <a:pt x="9924" y="8570"/>
                  </a:cubicBezTo>
                  <a:cubicBezTo>
                    <a:pt x="9798" y="8727"/>
                    <a:pt x="9861" y="8979"/>
                    <a:pt x="9956" y="9105"/>
                  </a:cubicBezTo>
                  <a:lnTo>
                    <a:pt x="10712" y="9830"/>
                  </a:lnTo>
                  <a:lnTo>
                    <a:pt x="9924" y="10618"/>
                  </a:lnTo>
                  <a:lnTo>
                    <a:pt x="9168" y="9893"/>
                  </a:lnTo>
                  <a:cubicBezTo>
                    <a:pt x="9111" y="9817"/>
                    <a:pt x="8996" y="9775"/>
                    <a:pt x="8879" y="9775"/>
                  </a:cubicBezTo>
                  <a:cubicBezTo>
                    <a:pt x="8803" y="9775"/>
                    <a:pt x="8726" y="9793"/>
                    <a:pt x="8664" y="9830"/>
                  </a:cubicBezTo>
                  <a:cubicBezTo>
                    <a:pt x="8223" y="10114"/>
                    <a:pt x="7813" y="10303"/>
                    <a:pt x="7341" y="10397"/>
                  </a:cubicBezTo>
                  <a:cubicBezTo>
                    <a:pt x="7120" y="10429"/>
                    <a:pt x="7026" y="10586"/>
                    <a:pt x="7026" y="10775"/>
                  </a:cubicBezTo>
                  <a:lnTo>
                    <a:pt x="7026" y="11846"/>
                  </a:lnTo>
                  <a:lnTo>
                    <a:pt x="5923" y="11846"/>
                  </a:lnTo>
                  <a:lnTo>
                    <a:pt x="5923" y="10775"/>
                  </a:lnTo>
                  <a:cubicBezTo>
                    <a:pt x="5923" y="10586"/>
                    <a:pt x="5797" y="10429"/>
                    <a:pt x="5577" y="10397"/>
                  </a:cubicBezTo>
                  <a:cubicBezTo>
                    <a:pt x="5135" y="10271"/>
                    <a:pt x="4663" y="10114"/>
                    <a:pt x="4253" y="9830"/>
                  </a:cubicBezTo>
                  <a:cubicBezTo>
                    <a:pt x="4191" y="9793"/>
                    <a:pt x="4119" y="9775"/>
                    <a:pt x="4047" y="9775"/>
                  </a:cubicBezTo>
                  <a:cubicBezTo>
                    <a:pt x="3937" y="9775"/>
                    <a:pt x="3826" y="9817"/>
                    <a:pt x="3749" y="9893"/>
                  </a:cubicBezTo>
                  <a:lnTo>
                    <a:pt x="2993" y="10618"/>
                  </a:lnTo>
                  <a:lnTo>
                    <a:pt x="2206" y="9830"/>
                  </a:lnTo>
                  <a:lnTo>
                    <a:pt x="2962" y="9105"/>
                  </a:lnTo>
                  <a:cubicBezTo>
                    <a:pt x="3088" y="8979"/>
                    <a:pt x="3119" y="8727"/>
                    <a:pt x="2993" y="8570"/>
                  </a:cubicBezTo>
                  <a:cubicBezTo>
                    <a:pt x="2710" y="8160"/>
                    <a:pt x="2521" y="7719"/>
                    <a:pt x="2458" y="7247"/>
                  </a:cubicBezTo>
                  <a:cubicBezTo>
                    <a:pt x="2395" y="7058"/>
                    <a:pt x="2237" y="6932"/>
                    <a:pt x="2048" y="6932"/>
                  </a:cubicBezTo>
                  <a:lnTo>
                    <a:pt x="977" y="6932"/>
                  </a:lnTo>
                  <a:lnTo>
                    <a:pt x="977" y="5829"/>
                  </a:lnTo>
                  <a:lnTo>
                    <a:pt x="2048" y="5829"/>
                  </a:lnTo>
                  <a:cubicBezTo>
                    <a:pt x="2237" y="5829"/>
                    <a:pt x="2395" y="5703"/>
                    <a:pt x="2458" y="5514"/>
                  </a:cubicBezTo>
                  <a:cubicBezTo>
                    <a:pt x="2552" y="5041"/>
                    <a:pt x="2710" y="4569"/>
                    <a:pt x="2993" y="4159"/>
                  </a:cubicBezTo>
                  <a:cubicBezTo>
                    <a:pt x="3119" y="4002"/>
                    <a:pt x="3088" y="3781"/>
                    <a:pt x="2962" y="3655"/>
                  </a:cubicBezTo>
                  <a:lnTo>
                    <a:pt x="2206" y="2899"/>
                  </a:lnTo>
                  <a:lnTo>
                    <a:pt x="2993" y="2111"/>
                  </a:lnTo>
                  <a:lnTo>
                    <a:pt x="3749" y="2868"/>
                  </a:lnTo>
                  <a:cubicBezTo>
                    <a:pt x="3820" y="2938"/>
                    <a:pt x="3921" y="2979"/>
                    <a:pt x="4023" y="2979"/>
                  </a:cubicBezTo>
                  <a:cubicBezTo>
                    <a:pt x="4103" y="2979"/>
                    <a:pt x="4184" y="2954"/>
                    <a:pt x="4253" y="2899"/>
                  </a:cubicBezTo>
                  <a:cubicBezTo>
                    <a:pt x="4694" y="2647"/>
                    <a:pt x="5135" y="2426"/>
                    <a:pt x="5577" y="2363"/>
                  </a:cubicBezTo>
                  <a:cubicBezTo>
                    <a:pt x="5797" y="2332"/>
                    <a:pt x="5923" y="2174"/>
                    <a:pt x="5923" y="1954"/>
                  </a:cubicBezTo>
                  <a:lnTo>
                    <a:pt x="5923" y="914"/>
                  </a:lnTo>
                  <a:close/>
                  <a:moveTo>
                    <a:pt x="5829" y="1"/>
                  </a:moveTo>
                  <a:cubicBezTo>
                    <a:pt x="5356" y="1"/>
                    <a:pt x="5009" y="347"/>
                    <a:pt x="5009" y="820"/>
                  </a:cubicBezTo>
                  <a:lnTo>
                    <a:pt x="5009" y="1576"/>
                  </a:lnTo>
                  <a:cubicBezTo>
                    <a:pt x="4631" y="1702"/>
                    <a:pt x="4285" y="1796"/>
                    <a:pt x="3970" y="2017"/>
                  </a:cubicBezTo>
                  <a:lnTo>
                    <a:pt x="3466" y="1481"/>
                  </a:lnTo>
                  <a:cubicBezTo>
                    <a:pt x="3308" y="1324"/>
                    <a:pt x="3103" y="1245"/>
                    <a:pt x="2891" y="1245"/>
                  </a:cubicBezTo>
                  <a:cubicBezTo>
                    <a:pt x="2678" y="1245"/>
                    <a:pt x="2458" y="1324"/>
                    <a:pt x="2269" y="1481"/>
                  </a:cubicBezTo>
                  <a:lnTo>
                    <a:pt x="1481" y="2269"/>
                  </a:lnTo>
                  <a:cubicBezTo>
                    <a:pt x="1166" y="2584"/>
                    <a:pt x="1166" y="3120"/>
                    <a:pt x="1481" y="3466"/>
                  </a:cubicBezTo>
                  <a:lnTo>
                    <a:pt x="2017" y="3970"/>
                  </a:lnTo>
                  <a:cubicBezTo>
                    <a:pt x="1796" y="4285"/>
                    <a:pt x="1701" y="4632"/>
                    <a:pt x="1575" y="5010"/>
                  </a:cubicBezTo>
                  <a:lnTo>
                    <a:pt x="819" y="5010"/>
                  </a:lnTo>
                  <a:cubicBezTo>
                    <a:pt x="347" y="5010"/>
                    <a:pt x="0" y="5356"/>
                    <a:pt x="0" y="5829"/>
                  </a:cubicBezTo>
                  <a:lnTo>
                    <a:pt x="0" y="6932"/>
                  </a:lnTo>
                  <a:cubicBezTo>
                    <a:pt x="0" y="7404"/>
                    <a:pt x="347" y="7751"/>
                    <a:pt x="819" y="7751"/>
                  </a:cubicBezTo>
                  <a:lnTo>
                    <a:pt x="1575" y="7751"/>
                  </a:lnTo>
                  <a:cubicBezTo>
                    <a:pt x="1701" y="8097"/>
                    <a:pt x="1796" y="8475"/>
                    <a:pt x="2017" y="8759"/>
                  </a:cubicBezTo>
                  <a:lnTo>
                    <a:pt x="1481" y="9295"/>
                  </a:lnTo>
                  <a:cubicBezTo>
                    <a:pt x="1166" y="9610"/>
                    <a:pt x="1166" y="10114"/>
                    <a:pt x="1481" y="10460"/>
                  </a:cubicBezTo>
                  <a:lnTo>
                    <a:pt x="2269" y="11248"/>
                  </a:lnTo>
                  <a:cubicBezTo>
                    <a:pt x="2426" y="11405"/>
                    <a:pt x="2639" y="11484"/>
                    <a:pt x="2855" y="11484"/>
                  </a:cubicBezTo>
                  <a:cubicBezTo>
                    <a:pt x="3072" y="11484"/>
                    <a:pt x="3292" y="11405"/>
                    <a:pt x="3466" y="11248"/>
                  </a:cubicBezTo>
                  <a:lnTo>
                    <a:pt x="3970" y="10744"/>
                  </a:lnTo>
                  <a:cubicBezTo>
                    <a:pt x="4285" y="10933"/>
                    <a:pt x="4631" y="11059"/>
                    <a:pt x="5009" y="11185"/>
                  </a:cubicBezTo>
                  <a:lnTo>
                    <a:pt x="5009" y="11909"/>
                  </a:lnTo>
                  <a:cubicBezTo>
                    <a:pt x="5009" y="12382"/>
                    <a:pt x="5356" y="12760"/>
                    <a:pt x="5829" y="12760"/>
                  </a:cubicBezTo>
                  <a:lnTo>
                    <a:pt x="6931" y="12760"/>
                  </a:lnTo>
                  <a:cubicBezTo>
                    <a:pt x="7404" y="12760"/>
                    <a:pt x="7750" y="12382"/>
                    <a:pt x="7750" y="11909"/>
                  </a:cubicBezTo>
                  <a:lnTo>
                    <a:pt x="7750" y="11185"/>
                  </a:lnTo>
                  <a:cubicBezTo>
                    <a:pt x="8097" y="11059"/>
                    <a:pt x="8475" y="10933"/>
                    <a:pt x="8790" y="10744"/>
                  </a:cubicBezTo>
                  <a:lnTo>
                    <a:pt x="9294" y="11248"/>
                  </a:lnTo>
                  <a:cubicBezTo>
                    <a:pt x="9452" y="11405"/>
                    <a:pt x="9656" y="11484"/>
                    <a:pt x="9865" y="11484"/>
                  </a:cubicBezTo>
                  <a:cubicBezTo>
                    <a:pt x="10074" y="11484"/>
                    <a:pt x="10287" y="11405"/>
                    <a:pt x="10460" y="11248"/>
                  </a:cubicBezTo>
                  <a:lnTo>
                    <a:pt x="11247" y="10460"/>
                  </a:lnTo>
                  <a:cubicBezTo>
                    <a:pt x="11563" y="10145"/>
                    <a:pt x="11563" y="9641"/>
                    <a:pt x="11247" y="9295"/>
                  </a:cubicBezTo>
                  <a:lnTo>
                    <a:pt x="10743" y="8759"/>
                  </a:lnTo>
                  <a:cubicBezTo>
                    <a:pt x="10932" y="8444"/>
                    <a:pt x="11058" y="8097"/>
                    <a:pt x="11184" y="7751"/>
                  </a:cubicBezTo>
                  <a:lnTo>
                    <a:pt x="11941" y="7751"/>
                  </a:lnTo>
                  <a:cubicBezTo>
                    <a:pt x="12413" y="7751"/>
                    <a:pt x="12760" y="7404"/>
                    <a:pt x="12760" y="6932"/>
                  </a:cubicBezTo>
                  <a:lnTo>
                    <a:pt x="12760" y="5829"/>
                  </a:lnTo>
                  <a:cubicBezTo>
                    <a:pt x="12760" y="5356"/>
                    <a:pt x="12350" y="5010"/>
                    <a:pt x="11941" y="5010"/>
                  </a:cubicBezTo>
                  <a:lnTo>
                    <a:pt x="11184" y="5010"/>
                  </a:lnTo>
                  <a:cubicBezTo>
                    <a:pt x="11058" y="4632"/>
                    <a:pt x="10932" y="4285"/>
                    <a:pt x="10743" y="3970"/>
                  </a:cubicBezTo>
                  <a:lnTo>
                    <a:pt x="11247" y="3466"/>
                  </a:lnTo>
                  <a:cubicBezTo>
                    <a:pt x="11563" y="3151"/>
                    <a:pt x="11563" y="2647"/>
                    <a:pt x="11247" y="2269"/>
                  </a:cubicBezTo>
                  <a:lnTo>
                    <a:pt x="10460" y="1481"/>
                  </a:lnTo>
                  <a:cubicBezTo>
                    <a:pt x="10302" y="1324"/>
                    <a:pt x="10098" y="1245"/>
                    <a:pt x="9889" y="1245"/>
                  </a:cubicBezTo>
                  <a:cubicBezTo>
                    <a:pt x="9680" y="1245"/>
                    <a:pt x="9467" y="1324"/>
                    <a:pt x="9294" y="1481"/>
                  </a:cubicBezTo>
                  <a:lnTo>
                    <a:pt x="8790" y="2017"/>
                  </a:lnTo>
                  <a:cubicBezTo>
                    <a:pt x="8475" y="1796"/>
                    <a:pt x="8097" y="1702"/>
                    <a:pt x="7750" y="1576"/>
                  </a:cubicBezTo>
                  <a:lnTo>
                    <a:pt x="7750" y="820"/>
                  </a:lnTo>
                  <a:cubicBezTo>
                    <a:pt x="7750" y="347"/>
                    <a:pt x="7404" y="1"/>
                    <a:pt x="69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5450" lIns="95450" spcFirstLastPara="1" rIns="95450" wrap="square" tIns="95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5"/>
            <p:cNvSpPr/>
            <p:nvPr/>
          </p:nvSpPr>
          <p:spPr>
            <a:xfrm>
              <a:off x="-63160900" y="2021425"/>
              <a:ext cx="137850" cy="137850"/>
            </a:xfrm>
            <a:custGeom>
              <a:rect b="b" l="l" r="r" t="t"/>
              <a:pathLst>
                <a:path extrusionOk="0" h="5514" w="5514">
                  <a:moveTo>
                    <a:pt x="2773" y="820"/>
                  </a:moveTo>
                  <a:cubicBezTo>
                    <a:pt x="3813" y="820"/>
                    <a:pt x="4695" y="1702"/>
                    <a:pt x="4695" y="2742"/>
                  </a:cubicBezTo>
                  <a:cubicBezTo>
                    <a:pt x="4695" y="3813"/>
                    <a:pt x="3813" y="4695"/>
                    <a:pt x="2773" y="4695"/>
                  </a:cubicBezTo>
                  <a:cubicBezTo>
                    <a:pt x="1702" y="4695"/>
                    <a:pt x="820" y="3813"/>
                    <a:pt x="820" y="2742"/>
                  </a:cubicBezTo>
                  <a:cubicBezTo>
                    <a:pt x="820" y="1702"/>
                    <a:pt x="1702" y="820"/>
                    <a:pt x="2773" y="820"/>
                  </a:cubicBezTo>
                  <a:close/>
                  <a:moveTo>
                    <a:pt x="2773" y="1"/>
                  </a:moveTo>
                  <a:cubicBezTo>
                    <a:pt x="1229" y="1"/>
                    <a:pt x="1" y="1198"/>
                    <a:pt x="1" y="2742"/>
                  </a:cubicBezTo>
                  <a:cubicBezTo>
                    <a:pt x="1" y="4285"/>
                    <a:pt x="1229" y="5514"/>
                    <a:pt x="2773" y="5514"/>
                  </a:cubicBezTo>
                  <a:cubicBezTo>
                    <a:pt x="4285" y="5514"/>
                    <a:pt x="5514" y="4285"/>
                    <a:pt x="5514" y="2742"/>
                  </a:cubicBezTo>
                  <a:cubicBezTo>
                    <a:pt x="5514" y="1229"/>
                    <a:pt x="4254" y="1"/>
                    <a:pt x="2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5450" lIns="95450" spcFirstLastPara="1" rIns="95450" wrap="square" tIns="95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2" name="Google Shape;882;p35"/>
          <p:cNvSpPr/>
          <p:nvPr/>
        </p:nvSpPr>
        <p:spPr>
          <a:xfrm>
            <a:off x="6191212" y="1538451"/>
            <a:ext cx="385300" cy="385275"/>
          </a:xfrm>
          <a:custGeom>
            <a:rect b="b" l="l" r="r" t="t"/>
            <a:pathLst>
              <a:path extrusionOk="0" h="12708" w="12666">
                <a:moveTo>
                  <a:pt x="6347" y="841"/>
                </a:moveTo>
                <a:cubicBezTo>
                  <a:pt x="6876" y="841"/>
                  <a:pt x="7350" y="1172"/>
                  <a:pt x="7530" y="1712"/>
                </a:cubicBezTo>
                <a:cubicBezTo>
                  <a:pt x="7719" y="2405"/>
                  <a:pt x="7372" y="3067"/>
                  <a:pt x="6679" y="3256"/>
                </a:cubicBezTo>
                <a:cubicBezTo>
                  <a:pt x="6569" y="3289"/>
                  <a:pt x="6457" y="3305"/>
                  <a:pt x="6345" y="3305"/>
                </a:cubicBezTo>
                <a:cubicBezTo>
                  <a:pt x="5822" y="3305"/>
                  <a:pt x="5323" y="2956"/>
                  <a:pt x="5167" y="2437"/>
                </a:cubicBezTo>
                <a:cubicBezTo>
                  <a:pt x="4947" y="1775"/>
                  <a:pt x="5325" y="1082"/>
                  <a:pt x="5986" y="893"/>
                </a:cubicBezTo>
                <a:cubicBezTo>
                  <a:pt x="6108" y="858"/>
                  <a:pt x="6229" y="841"/>
                  <a:pt x="6347" y="841"/>
                </a:cubicBezTo>
                <a:close/>
                <a:moveTo>
                  <a:pt x="6353" y="5919"/>
                </a:moveTo>
                <a:cubicBezTo>
                  <a:pt x="7021" y="5919"/>
                  <a:pt x="7624" y="6459"/>
                  <a:pt x="7624" y="7162"/>
                </a:cubicBezTo>
                <a:cubicBezTo>
                  <a:pt x="7593" y="7698"/>
                  <a:pt x="7215" y="8170"/>
                  <a:pt x="6742" y="8328"/>
                </a:cubicBezTo>
                <a:cubicBezTo>
                  <a:pt x="6608" y="8371"/>
                  <a:pt x="6474" y="8391"/>
                  <a:pt x="6345" y="8391"/>
                </a:cubicBezTo>
                <a:cubicBezTo>
                  <a:pt x="5810" y="8391"/>
                  <a:pt x="5351" y="8042"/>
                  <a:pt x="5199" y="7509"/>
                </a:cubicBezTo>
                <a:cubicBezTo>
                  <a:pt x="5010" y="6847"/>
                  <a:pt x="5356" y="6186"/>
                  <a:pt x="6018" y="5965"/>
                </a:cubicBezTo>
                <a:cubicBezTo>
                  <a:pt x="6130" y="5934"/>
                  <a:pt x="6242" y="5919"/>
                  <a:pt x="6353" y="5919"/>
                </a:cubicBezTo>
                <a:close/>
                <a:moveTo>
                  <a:pt x="2079" y="9351"/>
                </a:moveTo>
                <a:cubicBezTo>
                  <a:pt x="2744" y="9351"/>
                  <a:pt x="3340" y="9871"/>
                  <a:pt x="3340" y="10596"/>
                </a:cubicBezTo>
                <a:cubicBezTo>
                  <a:pt x="3308" y="11163"/>
                  <a:pt x="2962" y="11604"/>
                  <a:pt x="2426" y="11762"/>
                </a:cubicBezTo>
                <a:cubicBezTo>
                  <a:pt x="2305" y="11797"/>
                  <a:pt x="2183" y="11813"/>
                  <a:pt x="2065" y="11813"/>
                </a:cubicBezTo>
                <a:cubicBezTo>
                  <a:pt x="1538" y="11813"/>
                  <a:pt x="1068" y="11483"/>
                  <a:pt x="914" y="10943"/>
                </a:cubicBezTo>
                <a:cubicBezTo>
                  <a:pt x="693" y="10281"/>
                  <a:pt x="1071" y="9588"/>
                  <a:pt x="1733" y="9399"/>
                </a:cubicBezTo>
                <a:cubicBezTo>
                  <a:pt x="1849" y="9367"/>
                  <a:pt x="1965" y="9351"/>
                  <a:pt x="2079" y="9351"/>
                </a:cubicBezTo>
                <a:close/>
                <a:moveTo>
                  <a:pt x="10617" y="9351"/>
                </a:moveTo>
                <a:cubicBezTo>
                  <a:pt x="11281" y="9351"/>
                  <a:pt x="11878" y="9871"/>
                  <a:pt x="11878" y="10596"/>
                </a:cubicBezTo>
                <a:cubicBezTo>
                  <a:pt x="11846" y="11163"/>
                  <a:pt x="11500" y="11604"/>
                  <a:pt x="10995" y="11762"/>
                </a:cubicBezTo>
                <a:cubicBezTo>
                  <a:pt x="10868" y="11797"/>
                  <a:pt x="10742" y="11813"/>
                  <a:pt x="10620" y="11813"/>
                </a:cubicBezTo>
                <a:cubicBezTo>
                  <a:pt x="10076" y="11813"/>
                  <a:pt x="9606" y="11483"/>
                  <a:pt x="9452" y="10943"/>
                </a:cubicBezTo>
                <a:cubicBezTo>
                  <a:pt x="9263" y="10281"/>
                  <a:pt x="9609" y="9588"/>
                  <a:pt x="10271" y="9399"/>
                </a:cubicBezTo>
                <a:cubicBezTo>
                  <a:pt x="10387" y="9367"/>
                  <a:pt x="10503" y="9351"/>
                  <a:pt x="10617" y="9351"/>
                </a:cubicBezTo>
                <a:close/>
                <a:moveTo>
                  <a:pt x="6344" y="0"/>
                </a:moveTo>
                <a:cubicBezTo>
                  <a:pt x="5677" y="0"/>
                  <a:pt x="5021" y="308"/>
                  <a:pt x="4631" y="893"/>
                </a:cubicBezTo>
                <a:cubicBezTo>
                  <a:pt x="3812" y="2122"/>
                  <a:pt x="4474" y="3760"/>
                  <a:pt x="5955" y="4075"/>
                </a:cubicBezTo>
                <a:lnTo>
                  <a:pt x="5955" y="5146"/>
                </a:lnTo>
                <a:cubicBezTo>
                  <a:pt x="4600" y="5430"/>
                  <a:pt x="3907" y="6910"/>
                  <a:pt x="4537" y="8107"/>
                </a:cubicBezTo>
                <a:lnTo>
                  <a:pt x="3434" y="9021"/>
                </a:lnTo>
                <a:cubicBezTo>
                  <a:pt x="3025" y="8706"/>
                  <a:pt x="2584" y="8548"/>
                  <a:pt x="2080" y="8548"/>
                </a:cubicBezTo>
                <a:cubicBezTo>
                  <a:pt x="945" y="8548"/>
                  <a:pt x="0" y="9494"/>
                  <a:pt x="0" y="10628"/>
                </a:cubicBezTo>
                <a:cubicBezTo>
                  <a:pt x="0" y="11762"/>
                  <a:pt x="945" y="12707"/>
                  <a:pt x="2080" y="12707"/>
                </a:cubicBezTo>
                <a:cubicBezTo>
                  <a:pt x="3214" y="12707"/>
                  <a:pt x="4159" y="11793"/>
                  <a:pt x="4159" y="10628"/>
                </a:cubicBezTo>
                <a:cubicBezTo>
                  <a:pt x="4159" y="10281"/>
                  <a:pt x="4096" y="9966"/>
                  <a:pt x="3938" y="9683"/>
                </a:cubicBezTo>
                <a:lnTo>
                  <a:pt x="5041" y="8769"/>
                </a:lnTo>
                <a:cubicBezTo>
                  <a:pt x="5435" y="9084"/>
                  <a:pt x="5907" y="9242"/>
                  <a:pt x="6376" y="9242"/>
                </a:cubicBezTo>
                <a:cubicBezTo>
                  <a:pt x="6845" y="9242"/>
                  <a:pt x="7309" y="9084"/>
                  <a:pt x="7687" y="8769"/>
                </a:cubicBezTo>
                <a:lnTo>
                  <a:pt x="8790" y="9683"/>
                </a:lnTo>
                <a:cubicBezTo>
                  <a:pt x="8318" y="10596"/>
                  <a:pt x="8570" y="11730"/>
                  <a:pt x="9452" y="12361"/>
                </a:cubicBezTo>
                <a:cubicBezTo>
                  <a:pt x="9803" y="12595"/>
                  <a:pt x="10203" y="12707"/>
                  <a:pt x="10598" y="12707"/>
                </a:cubicBezTo>
                <a:cubicBezTo>
                  <a:pt x="11266" y="12707"/>
                  <a:pt x="11923" y="12387"/>
                  <a:pt x="12319" y="11793"/>
                </a:cubicBezTo>
                <a:cubicBezTo>
                  <a:pt x="12571" y="11478"/>
                  <a:pt x="12665" y="11069"/>
                  <a:pt x="12665" y="10659"/>
                </a:cubicBezTo>
                <a:cubicBezTo>
                  <a:pt x="12665" y="9431"/>
                  <a:pt x="11783" y="8548"/>
                  <a:pt x="10617" y="8548"/>
                </a:cubicBezTo>
                <a:cubicBezTo>
                  <a:pt x="10113" y="8548"/>
                  <a:pt x="9672" y="8706"/>
                  <a:pt x="9294" y="9021"/>
                </a:cubicBezTo>
                <a:lnTo>
                  <a:pt x="8192" y="8107"/>
                </a:lnTo>
                <a:cubicBezTo>
                  <a:pt x="8822" y="6879"/>
                  <a:pt x="8097" y="5398"/>
                  <a:pt x="6774" y="5146"/>
                </a:cubicBezTo>
                <a:lnTo>
                  <a:pt x="6774" y="4075"/>
                </a:lnTo>
                <a:cubicBezTo>
                  <a:pt x="7530" y="3917"/>
                  <a:pt x="8097" y="3382"/>
                  <a:pt x="8349" y="2657"/>
                </a:cubicBezTo>
                <a:cubicBezTo>
                  <a:pt x="8633" y="1806"/>
                  <a:pt x="8318" y="861"/>
                  <a:pt x="7530" y="357"/>
                </a:cubicBezTo>
                <a:cubicBezTo>
                  <a:pt x="7170" y="117"/>
                  <a:pt x="6755" y="0"/>
                  <a:pt x="634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RESEARCH OBJECTIVE</a:t>
            </a:r>
            <a:endParaRPr/>
          </a:p>
        </p:txBody>
      </p:sp>
      <p:sp>
        <p:nvSpPr>
          <p:cNvPr id="888" name="Google Shape;888;p36"/>
          <p:cNvSpPr txBox="1"/>
          <p:nvPr/>
        </p:nvSpPr>
        <p:spPr>
          <a:xfrm>
            <a:off x="1438013" y="3918700"/>
            <a:ext cx="6634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VALIDATE PERFORMANCE</a:t>
            </a:r>
            <a:r>
              <a:rPr lang="en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Benchmark the new approach against established standards (OAEI) to ensure reliability.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889" name="Google Shape;889;p36"/>
          <p:cNvSpPr txBox="1"/>
          <p:nvPr>
            <p:ph idx="4" type="subTitle"/>
          </p:nvPr>
        </p:nvSpPr>
        <p:spPr>
          <a:xfrm>
            <a:off x="882900" y="1017725"/>
            <a:ext cx="7378200" cy="6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aleway Medium"/>
                <a:ea typeface="Raleway Medium"/>
                <a:cs typeface="Raleway Medium"/>
                <a:sym typeface="Raleway Medium"/>
              </a:rPr>
              <a:t>Developing a Context-Aware Semantic Alignment Engine</a:t>
            </a:r>
            <a:endParaRPr sz="21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890" name="Google Shape;890;p36"/>
          <p:cNvSpPr txBox="1"/>
          <p:nvPr/>
        </p:nvSpPr>
        <p:spPr>
          <a:xfrm>
            <a:off x="1438013" y="1637475"/>
            <a:ext cx="66342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EVALUATE TRANSFORMER EFFICIENCY</a:t>
            </a:r>
            <a:r>
              <a:rPr lang="en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Assess how models like BERT and S-BERT perform on complex biomedical data compared to traditional methods.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891" name="Google Shape;891;p36"/>
          <p:cNvSpPr txBox="1"/>
          <p:nvPr/>
        </p:nvSpPr>
        <p:spPr>
          <a:xfrm>
            <a:off x="1438013" y="2770225"/>
            <a:ext cx="66342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OVERCOME LEXICAL LIMITATIONS</a:t>
            </a:r>
            <a:r>
              <a:rPr b="1"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Move beyond simple string matching to capture the actual </a:t>
            </a:r>
            <a:r>
              <a:rPr i="1" lang="en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meaning</a:t>
            </a:r>
            <a:r>
              <a:rPr lang="en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and </a:t>
            </a:r>
            <a:r>
              <a:rPr i="1" lang="en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context</a:t>
            </a:r>
            <a:r>
              <a:rPr lang="en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of clinical terms.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892" name="Google Shape;892;p36"/>
          <p:cNvSpPr/>
          <p:nvPr/>
        </p:nvSpPr>
        <p:spPr>
          <a:xfrm>
            <a:off x="1014460" y="3037178"/>
            <a:ext cx="371724" cy="354285"/>
          </a:xfrm>
          <a:custGeom>
            <a:rect b="b" l="l" r="r" t="t"/>
            <a:pathLst>
              <a:path extrusionOk="0" h="11681" w="12256">
                <a:moveTo>
                  <a:pt x="8853" y="2072"/>
                </a:moveTo>
                <a:cubicBezTo>
                  <a:pt x="9121" y="2072"/>
                  <a:pt x="9389" y="2174"/>
                  <a:pt x="9578" y="2379"/>
                </a:cubicBezTo>
                <a:cubicBezTo>
                  <a:pt x="9987" y="2757"/>
                  <a:pt x="9987" y="3418"/>
                  <a:pt x="9578" y="3828"/>
                </a:cubicBezTo>
                <a:lnTo>
                  <a:pt x="8601" y="4805"/>
                </a:lnTo>
                <a:cubicBezTo>
                  <a:pt x="8444" y="4490"/>
                  <a:pt x="8254" y="4206"/>
                  <a:pt x="8002" y="3954"/>
                </a:cubicBezTo>
                <a:cubicBezTo>
                  <a:pt x="7782" y="3702"/>
                  <a:pt x="7467" y="3481"/>
                  <a:pt x="7152" y="3355"/>
                </a:cubicBezTo>
                <a:lnTo>
                  <a:pt x="8128" y="2379"/>
                </a:lnTo>
                <a:cubicBezTo>
                  <a:pt x="8317" y="2174"/>
                  <a:pt x="8585" y="2072"/>
                  <a:pt x="8853" y="2072"/>
                </a:cubicBezTo>
                <a:close/>
                <a:moveTo>
                  <a:pt x="5794" y="5110"/>
                </a:moveTo>
                <a:cubicBezTo>
                  <a:pt x="6066" y="5110"/>
                  <a:pt x="6350" y="5200"/>
                  <a:pt x="6553" y="5403"/>
                </a:cubicBezTo>
                <a:cubicBezTo>
                  <a:pt x="6837" y="5687"/>
                  <a:pt x="6900" y="6096"/>
                  <a:pt x="6774" y="6474"/>
                </a:cubicBezTo>
                <a:cubicBezTo>
                  <a:pt x="6675" y="6501"/>
                  <a:pt x="6569" y="6515"/>
                  <a:pt x="6462" y="6515"/>
                </a:cubicBezTo>
                <a:cubicBezTo>
                  <a:pt x="6192" y="6515"/>
                  <a:pt x="5915" y="6425"/>
                  <a:pt x="5734" y="6222"/>
                </a:cubicBezTo>
                <a:cubicBezTo>
                  <a:pt x="5451" y="5939"/>
                  <a:pt x="5356" y="5529"/>
                  <a:pt x="5482" y="5151"/>
                </a:cubicBezTo>
                <a:cubicBezTo>
                  <a:pt x="5580" y="5124"/>
                  <a:pt x="5686" y="5110"/>
                  <a:pt x="5794" y="5110"/>
                </a:cubicBezTo>
                <a:close/>
                <a:moveTo>
                  <a:pt x="8869" y="662"/>
                </a:moveTo>
                <a:cubicBezTo>
                  <a:pt x="9475" y="662"/>
                  <a:pt x="10082" y="898"/>
                  <a:pt x="10554" y="1371"/>
                </a:cubicBezTo>
                <a:cubicBezTo>
                  <a:pt x="11499" y="2316"/>
                  <a:pt x="11499" y="3828"/>
                  <a:pt x="10554" y="4773"/>
                </a:cubicBezTo>
                <a:lnTo>
                  <a:pt x="8160" y="7167"/>
                </a:lnTo>
                <a:cubicBezTo>
                  <a:pt x="7687" y="7640"/>
                  <a:pt x="7081" y="7876"/>
                  <a:pt x="6474" y="7876"/>
                </a:cubicBezTo>
                <a:cubicBezTo>
                  <a:pt x="5868" y="7876"/>
                  <a:pt x="5262" y="7640"/>
                  <a:pt x="4789" y="7167"/>
                </a:cubicBezTo>
                <a:cubicBezTo>
                  <a:pt x="4537" y="6947"/>
                  <a:pt x="4348" y="6632"/>
                  <a:pt x="4222" y="6254"/>
                </a:cubicBezTo>
                <a:lnTo>
                  <a:pt x="4789" y="5718"/>
                </a:lnTo>
                <a:cubicBezTo>
                  <a:pt x="4820" y="6065"/>
                  <a:pt x="4978" y="6411"/>
                  <a:pt x="5262" y="6695"/>
                </a:cubicBezTo>
                <a:cubicBezTo>
                  <a:pt x="5592" y="7026"/>
                  <a:pt x="6026" y="7191"/>
                  <a:pt x="6459" y="7191"/>
                </a:cubicBezTo>
                <a:cubicBezTo>
                  <a:pt x="6892" y="7191"/>
                  <a:pt x="7325" y="7026"/>
                  <a:pt x="7656" y="6695"/>
                </a:cubicBezTo>
                <a:lnTo>
                  <a:pt x="10050" y="4301"/>
                </a:lnTo>
                <a:cubicBezTo>
                  <a:pt x="10712" y="3639"/>
                  <a:pt x="10712" y="2568"/>
                  <a:pt x="10050" y="1906"/>
                </a:cubicBezTo>
                <a:cubicBezTo>
                  <a:pt x="9719" y="1560"/>
                  <a:pt x="9286" y="1386"/>
                  <a:pt x="8853" y="1386"/>
                </a:cubicBezTo>
                <a:cubicBezTo>
                  <a:pt x="8420" y="1386"/>
                  <a:pt x="7987" y="1560"/>
                  <a:pt x="7656" y="1906"/>
                </a:cubicBezTo>
                <a:lnTo>
                  <a:pt x="6427" y="3103"/>
                </a:lnTo>
                <a:cubicBezTo>
                  <a:pt x="6243" y="3066"/>
                  <a:pt x="6058" y="3051"/>
                  <a:pt x="5874" y="3051"/>
                </a:cubicBezTo>
                <a:cubicBezTo>
                  <a:pt x="5743" y="3051"/>
                  <a:pt x="5613" y="3059"/>
                  <a:pt x="5482" y="3072"/>
                </a:cubicBezTo>
                <a:lnTo>
                  <a:pt x="7183" y="1371"/>
                </a:lnTo>
                <a:cubicBezTo>
                  <a:pt x="7656" y="898"/>
                  <a:pt x="8262" y="662"/>
                  <a:pt x="8869" y="662"/>
                </a:cubicBezTo>
                <a:close/>
                <a:moveTo>
                  <a:pt x="3686" y="6821"/>
                </a:moveTo>
                <a:cubicBezTo>
                  <a:pt x="3844" y="7136"/>
                  <a:pt x="4033" y="7420"/>
                  <a:pt x="4253" y="7672"/>
                </a:cubicBezTo>
                <a:cubicBezTo>
                  <a:pt x="4505" y="7924"/>
                  <a:pt x="4820" y="8144"/>
                  <a:pt x="5135" y="8270"/>
                </a:cubicBezTo>
                <a:lnTo>
                  <a:pt x="4096" y="9278"/>
                </a:lnTo>
                <a:cubicBezTo>
                  <a:pt x="3907" y="9483"/>
                  <a:pt x="3647" y="9585"/>
                  <a:pt x="3383" y="9585"/>
                </a:cubicBezTo>
                <a:cubicBezTo>
                  <a:pt x="3119" y="9585"/>
                  <a:pt x="2851" y="9483"/>
                  <a:pt x="2647" y="9278"/>
                </a:cubicBezTo>
                <a:cubicBezTo>
                  <a:pt x="2269" y="8900"/>
                  <a:pt x="2269" y="8239"/>
                  <a:pt x="2647" y="7829"/>
                </a:cubicBezTo>
                <a:lnTo>
                  <a:pt x="3686" y="6821"/>
                </a:lnTo>
                <a:close/>
                <a:moveTo>
                  <a:pt x="5844" y="3718"/>
                </a:moveTo>
                <a:cubicBezTo>
                  <a:pt x="6451" y="3718"/>
                  <a:pt x="7057" y="3954"/>
                  <a:pt x="7530" y="4427"/>
                </a:cubicBezTo>
                <a:cubicBezTo>
                  <a:pt x="7782" y="4647"/>
                  <a:pt x="7971" y="4962"/>
                  <a:pt x="8097" y="5309"/>
                </a:cubicBezTo>
                <a:lnTo>
                  <a:pt x="7530" y="5876"/>
                </a:lnTo>
                <a:cubicBezTo>
                  <a:pt x="7498" y="5529"/>
                  <a:pt x="7341" y="5151"/>
                  <a:pt x="7057" y="4899"/>
                </a:cubicBezTo>
                <a:cubicBezTo>
                  <a:pt x="6726" y="4553"/>
                  <a:pt x="6293" y="4379"/>
                  <a:pt x="5860" y="4379"/>
                </a:cubicBezTo>
                <a:cubicBezTo>
                  <a:pt x="5427" y="4379"/>
                  <a:pt x="4994" y="4553"/>
                  <a:pt x="4663" y="4899"/>
                </a:cubicBezTo>
                <a:lnTo>
                  <a:pt x="2174" y="7357"/>
                </a:lnTo>
                <a:cubicBezTo>
                  <a:pt x="1512" y="8050"/>
                  <a:pt x="1512" y="9089"/>
                  <a:pt x="2174" y="9782"/>
                </a:cubicBezTo>
                <a:cubicBezTo>
                  <a:pt x="2505" y="10113"/>
                  <a:pt x="2938" y="10279"/>
                  <a:pt x="3371" y="10279"/>
                </a:cubicBezTo>
                <a:cubicBezTo>
                  <a:pt x="3804" y="10279"/>
                  <a:pt x="4238" y="10113"/>
                  <a:pt x="4568" y="9782"/>
                </a:cubicBezTo>
                <a:lnTo>
                  <a:pt x="5892" y="8459"/>
                </a:lnTo>
                <a:cubicBezTo>
                  <a:pt x="6122" y="8505"/>
                  <a:pt x="6336" y="8535"/>
                  <a:pt x="6570" y="8535"/>
                </a:cubicBezTo>
                <a:cubicBezTo>
                  <a:pt x="6656" y="8535"/>
                  <a:pt x="6744" y="8531"/>
                  <a:pt x="6837" y="8522"/>
                </a:cubicBezTo>
                <a:lnTo>
                  <a:pt x="6837" y="8522"/>
                </a:lnTo>
                <a:lnTo>
                  <a:pt x="5041" y="10286"/>
                </a:lnTo>
                <a:cubicBezTo>
                  <a:pt x="4568" y="10759"/>
                  <a:pt x="3962" y="10995"/>
                  <a:pt x="3355" y="10995"/>
                </a:cubicBezTo>
                <a:cubicBezTo>
                  <a:pt x="2749" y="10995"/>
                  <a:pt x="2143" y="10759"/>
                  <a:pt x="1670" y="10286"/>
                </a:cubicBezTo>
                <a:cubicBezTo>
                  <a:pt x="725" y="9341"/>
                  <a:pt x="725" y="7829"/>
                  <a:pt x="1670" y="6884"/>
                </a:cubicBezTo>
                <a:lnTo>
                  <a:pt x="4159" y="4427"/>
                </a:lnTo>
                <a:cubicBezTo>
                  <a:pt x="4631" y="3954"/>
                  <a:pt x="5238" y="3718"/>
                  <a:pt x="5844" y="3718"/>
                </a:cubicBezTo>
                <a:close/>
                <a:moveTo>
                  <a:pt x="8869" y="0"/>
                </a:moveTo>
                <a:cubicBezTo>
                  <a:pt x="8081" y="0"/>
                  <a:pt x="7294" y="299"/>
                  <a:pt x="6711" y="898"/>
                </a:cubicBezTo>
                <a:lnTo>
                  <a:pt x="1197" y="6411"/>
                </a:lnTo>
                <a:cubicBezTo>
                  <a:pt x="0" y="7609"/>
                  <a:pt x="0" y="9562"/>
                  <a:pt x="1197" y="10759"/>
                </a:cubicBezTo>
                <a:cubicBezTo>
                  <a:pt x="1812" y="11373"/>
                  <a:pt x="2599" y="11681"/>
                  <a:pt x="3379" y="11681"/>
                </a:cubicBezTo>
                <a:cubicBezTo>
                  <a:pt x="4159" y="11681"/>
                  <a:pt x="4931" y="11373"/>
                  <a:pt x="5514" y="10759"/>
                </a:cubicBezTo>
                <a:lnTo>
                  <a:pt x="11027" y="5246"/>
                </a:lnTo>
                <a:cubicBezTo>
                  <a:pt x="12256" y="4017"/>
                  <a:pt x="12256" y="2095"/>
                  <a:pt x="11027" y="898"/>
                </a:cubicBezTo>
                <a:cubicBezTo>
                  <a:pt x="10444" y="299"/>
                  <a:pt x="9656" y="0"/>
                  <a:pt x="88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6"/>
          <p:cNvSpPr/>
          <p:nvPr/>
        </p:nvSpPr>
        <p:spPr>
          <a:xfrm>
            <a:off x="1020250" y="1898447"/>
            <a:ext cx="360109" cy="359154"/>
          </a:xfrm>
          <a:custGeom>
            <a:rect b="b" l="l" r="r" t="t"/>
            <a:pathLst>
              <a:path extrusionOk="0" h="12036" w="12068">
                <a:moveTo>
                  <a:pt x="4222" y="630"/>
                </a:moveTo>
                <a:cubicBezTo>
                  <a:pt x="5010" y="630"/>
                  <a:pt x="5640" y="1292"/>
                  <a:pt x="5640" y="2048"/>
                </a:cubicBezTo>
                <a:lnTo>
                  <a:pt x="5640" y="9767"/>
                </a:lnTo>
                <a:cubicBezTo>
                  <a:pt x="5703" y="10617"/>
                  <a:pt x="5073" y="11311"/>
                  <a:pt x="4285" y="11311"/>
                </a:cubicBezTo>
                <a:cubicBezTo>
                  <a:pt x="3498" y="11311"/>
                  <a:pt x="2868" y="10680"/>
                  <a:pt x="2868" y="9893"/>
                </a:cubicBezTo>
                <a:lnTo>
                  <a:pt x="2868" y="9830"/>
                </a:lnTo>
                <a:cubicBezTo>
                  <a:pt x="3403" y="9767"/>
                  <a:pt x="3907" y="9515"/>
                  <a:pt x="4254" y="9137"/>
                </a:cubicBezTo>
                <a:cubicBezTo>
                  <a:pt x="4380" y="9011"/>
                  <a:pt x="4380" y="8790"/>
                  <a:pt x="4254" y="8633"/>
                </a:cubicBezTo>
                <a:cubicBezTo>
                  <a:pt x="4191" y="8570"/>
                  <a:pt x="4104" y="8538"/>
                  <a:pt x="4014" y="8538"/>
                </a:cubicBezTo>
                <a:cubicBezTo>
                  <a:pt x="3923" y="8538"/>
                  <a:pt x="3829" y="8570"/>
                  <a:pt x="3750" y="8633"/>
                </a:cubicBezTo>
                <a:cubicBezTo>
                  <a:pt x="3435" y="8948"/>
                  <a:pt x="2962" y="9137"/>
                  <a:pt x="2490" y="9137"/>
                </a:cubicBezTo>
                <a:cubicBezTo>
                  <a:pt x="1513" y="9137"/>
                  <a:pt x="725" y="8349"/>
                  <a:pt x="725" y="7372"/>
                </a:cubicBezTo>
                <a:cubicBezTo>
                  <a:pt x="725" y="7057"/>
                  <a:pt x="788" y="6742"/>
                  <a:pt x="946" y="6490"/>
                </a:cubicBezTo>
                <a:cubicBezTo>
                  <a:pt x="1387" y="6805"/>
                  <a:pt x="1891" y="6994"/>
                  <a:pt x="2490" y="6994"/>
                </a:cubicBezTo>
                <a:cubicBezTo>
                  <a:pt x="2679" y="6994"/>
                  <a:pt x="2836" y="6837"/>
                  <a:pt x="2836" y="6648"/>
                </a:cubicBezTo>
                <a:cubicBezTo>
                  <a:pt x="2836" y="6459"/>
                  <a:pt x="2679" y="6301"/>
                  <a:pt x="2490" y="6301"/>
                </a:cubicBezTo>
                <a:cubicBezTo>
                  <a:pt x="1513" y="6301"/>
                  <a:pt x="725" y="5514"/>
                  <a:pt x="725" y="4537"/>
                </a:cubicBezTo>
                <a:cubicBezTo>
                  <a:pt x="725" y="3623"/>
                  <a:pt x="1387" y="2899"/>
                  <a:pt x="2238" y="2804"/>
                </a:cubicBezTo>
                <a:cubicBezTo>
                  <a:pt x="2521" y="3623"/>
                  <a:pt x="3309" y="4159"/>
                  <a:pt x="4222" y="4159"/>
                </a:cubicBezTo>
                <a:cubicBezTo>
                  <a:pt x="4411" y="4159"/>
                  <a:pt x="4569" y="4001"/>
                  <a:pt x="4569" y="3812"/>
                </a:cubicBezTo>
                <a:cubicBezTo>
                  <a:pt x="4569" y="3623"/>
                  <a:pt x="4411" y="3466"/>
                  <a:pt x="4222" y="3466"/>
                </a:cubicBezTo>
                <a:cubicBezTo>
                  <a:pt x="3435" y="3466"/>
                  <a:pt x="2805" y="2836"/>
                  <a:pt x="2805" y="2048"/>
                </a:cubicBezTo>
                <a:cubicBezTo>
                  <a:pt x="2805" y="1261"/>
                  <a:pt x="3435" y="630"/>
                  <a:pt x="4222" y="630"/>
                </a:cubicBezTo>
                <a:close/>
                <a:moveTo>
                  <a:pt x="7814" y="788"/>
                </a:moveTo>
                <a:cubicBezTo>
                  <a:pt x="8602" y="788"/>
                  <a:pt x="9232" y="1418"/>
                  <a:pt x="9232" y="2206"/>
                </a:cubicBezTo>
                <a:cubicBezTo>
                  <a:pt x="9232" y="2993"/>
                  <a:pt x="8602" y="3623"/>
                  <a:pt x="7814" y="3623"/>
                </a:cubicBezTo>
                <a:cubicBezTo>
                  <a:pt x="7593" y="3623"/>
                  <a:pt x="7436" y="3781"/>
                  <a:pt x="7436" y="3970"/>
                </a:cubicBezTo>
                <a:cubicBezTo>
                  <a:pt x="7436" y="4159"/>
                  <a:pt x="7593" y="4316"/>
                  <a:pt x="7814" y="4316"/>
                </a:cubicBezTo>
                <a:cubicBezTo>
                  <a:pt x="8696" y="4316"/>
                  <a:pt x="9484" y="3749"/>
                  <a:pt x="9767" y="2962"/>
                </a:cubicBezTo>
                <a:cubicBezTo>
                  <a:pt x="10649" y="3056"/>
                  <a:pt x="11311" y="3812"/>
                  <a:pt x="11311" y="4695"/>
                </a:cubicBezTo>
                <a:cubicBezTo>
                  <a:pt x="11311" y="5671"/>
                  <a:pt x="10523" y="6459"/>
                  <a:pt x="9547" y="6459"/>
                </a:cubicBezTo>
                <a:cubicBezTo>
                  <a:pt x="9326" y="6459"/>
                  <a:pt x="9169" y="6616"/>
                  <a:pt x="9169" y="6805"/>
                </a:cubicBezTo>
                <a:cubicBezTo>
                  <a:pt x="9169" y="6994"/>
                  <a:pt x="9326" y="7152"/>
                  <a:pt x="9547" y="7152"/>
                </a:cubicBezTo>
                <a:cubicBezTo>
                  <a:pt x="10114" y="7152"/>
                  <a:pt x="10649" y="6963"/>
                  <a:pt x="11059" y="6648"/>
                </a:cubicBezTo>
                <a:cubicBezTo>
                  <a:pt x="11217" y="6931"/>
                  <a:pt x="11311" y="7215"/>
                  <a:pt x="11311" y="7530"/>
                </a:cubicBezTo>
                <a:cubicBezTo>
                  <a:pt x="11374" y="8381"/>
                  <a:pt x="10586" y="9168"/>
                  <a:pt x="9610" y="9168"/>
                </a:cubicBezTo>
                <a:cubicBezTo>
                  <a:pt x="9137" y="9168"/>
                  <a:pt x="8696" y="8979"/>
                  <a:pt x="8350" y="8664"/>
                </a:cubicBezTo>
                <a:cubicBezTo>
                  <a:pt x="8287" y="8601"/>
                  <a:pt x="8200" y="8570"/>
                  <a:pt x="8109" y="8570"/>
                </a:cubicBezTo>
                <a:cubicBezTo>
                  <a:pt x="8019" y="8570"/>
                  <a:pt x="7924" y="8601"/>
                  <a:pt x="7845" y="8664"/>
                </a:cubicBezTo>
                <a:cubicBezTo>
                  <a:pt x="7719" y="8790"/>
                  <a:pt x="7719" y="9011"/>
                  <a:pt x="7845" y="9168"/>
                </a:cubicBezTo>
                <a:cubicBezTo>
                  <a:pt x="8224" y="9578"/>
                  <a:pt x="8696" y="9798"/>
                  <a:pt x="9232" y="9893"/>
                </a:cubicBezTo>
                <a:lnTo>
                  <a:pt x="9232" y="9924"/>
                </a:lnTo>
                <a:cubicBezTo>
                  <a:pt x="9232" y="10712"/>
                  <a:pt x="8602" y="11342"/>
                  <a:pt x="7814" y="11342"/>
                </a:cubicBezTo>
                <a:cubicBezTo>
                  <a:pt x="7026" y="11342"/>
                  <a:pt x="6396" y="10680"/>
                  <a:pt x="6396" y="9924"/>
                </a:cubicBezTo>
                <a:lnTo>
                  <a:pt x="6396" y="2206"/>
                </a:lnTo>
                <a:cubicBezTo>
                  <a:pt x="6396" y="1418"/>
                  <a:pt x="7058" y="788"/>
                  <a:pt x="7814" y="788"/>
                </a:cubicBezTo>
                <a:close/>
                <a:moveTo>
                  <a:pt x="4254" y="0"/>
                </a:moveTo>
                <a:cubicBezTo>
                  <a:pt x="3088" y="0"/>
                  <a:pt x="2143" y="977"/>
                  <a:pt x="2143" y="2111"/>
                </a:cubicBezTo>
                <a:lnTo>
                  <a:pt x="2143" y="2174"/>
                </a:lnTo>
                <a:cubicBezTo>
                  <a:pt x="946" y="2332"/>
                  <a:pt x="1" y="3340"/>
                  <a:pt x="1" y="4600"/>
                </a:cubicBezTo>
                <a:cubicBezTo>
                  <a:pt x="1" y="5104"/>
                  <a:pt x="158" y="5640"/>
                  <a:pt x="442" y="6018"/>
                </a:cubicBezTo>
                <a:cubicBezTo>
                  <a:pt x="158" y="6427"/>
                  <a:pt x="1" y="6931"/>
                  <a:pt x="1" y="7435"/>
                </a:cubicBezTo>
                <a:cubicBezTo>
                  <a:pt x="1" y="8696"/>
                  <a:pt x="946" y="9735"/>
                  <a:pt x="2143" y="9861"/>
                </a:cubicBezTo>
                <a:lnTo>
                  <a:pt x="2143" y="9924"/>
                </a:lnTo>
                <a:cubicBezTo>
                  <a:pt x="2143" y="11090"/>
                  <a:pt x="3088" y="12035"/>
                  <a:pt x="4254" y="12035"/>
                </a:cubicBezTo>
                <a:cubicBezTo>
                  <a:pt x="5010" y="12035"/>
                  <a:pt x="5640" y="11657"/>
                  <a:pt x="6050" y="11058"/>
                </a:cubicBezTo>
                <a:cubicBezTo>
                  <a:pt x="6428" y="11657"/>
                  <a:pt x="7089" y="12035"/>
                  <a:pt x="7814" y="12035"/>
                </a:cubicBezTo>
                <a:cubicBezTo>
                  <a:pt x="8980" y="12035"/>
                  <a:pt x="9925" y="11058"/>
                  <a:pt x="9925" y="9924"/>
                </a:cubicBezTo>
                <a:lnTo>
                  <a:pt x="9925" y="9861"/>
                </a:lnTo>
                <a:cubicBezTo>
                  <a:pt x="11122" y="9704"/>
                  <a:pt x="12067" y="8696"/>
                  <a:pt x="12067" y="7435"/>
                </a:cubicBezTo>
                <a:cubicBezTo>
                  <a:pt x="12067" y="6931"/>
                  <a:pt x="11910" y="6459"/>
                  <a:pt x="11626" y="6018"/>
                </a:cubicBezTo>
                <a:cubicBezTo>
                  <a:pt x="11910" y="5577"/>
                  <a:pt x="12067" y="5104"/>
                  <a:pt x="12067" y="4600"/>
                </a:cubicBezTo>
                <a:cubicBezTo>
                  <a:pt x="12067" y="3371"/>
                  <a:pt x="11154" y="2363"/>
                  <a:pt x="9925" y="2174"/>
                </a:cubicBezTo>
                <a:lnTo>
                  <a:pt x="9925" y="2111"/>
                </a:lnTo>
                <a:cubicBezTo>
                  <a:pt x="9925" y="945"/>
                  <a:pt x="8980" y="0"/>
                  <a:pt x="7814" y="0"/>
                </a:cubicBezTo>
                <a:cubicBezTo>
                  <a:pt x="7089" y="0"/>
                  <a:pt x="6428" y="378"/>
                  <a:pt x="6050" y="977"/>
                </a:cubicBezTo>
                <a:cubicBezTo>
                  <a:pt x="5640" y="378"/>
                  <a:pt x="4979" y="0"/>
                  <a:pt x="425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6"/>
          <p:cNvSpPr/>
          <p:nvPr/>
        </p:nvSpPr>
        <p:spPr>
          <a:xfrm>
            <a:off x="1014130" y="4171044"/>
            <a:ext cx="372371" cy="367946"/>
          </a:xfrm>
          <a:custGeom>
            <a:rect b="b" l="l" r="r" t="t"/>
            <a:pathLst>
              <a:path extrusionOk="0" h="12724" w="12877">
                <a:moveTo>
                  <a:pt x="10492" y="1603"/>
                </a:moveTo>
                <a:lnTo>
                  <a:pt x="10429" y="1855"/>
                </a:lnTo>
                <a:cubicBezTo>
                  <a:pt x="10429" y="1981"/>
                  <a:pt x="10492" y="2138"/>
                  <a:pt x="10555" y="2201"/>
                </a:cubicBezTo>
                <a:cubicBezTo>
                  <a:pt x="10649" y="2296"/>
                  <a:pt x="10807" y="2327"/>
                  <a:pt x="10901" y="2327"/>
                </a:cubicBezTo>
                <a:lnTo>
                  <a:pt x="11153" y="2296"/>
                </a:lnTo>
                <a:lnTo>
                  <a:pt x="10492" y="2957"/>
                </a:lnTo>
                <a:lnTo>
                  <a:pt x="9736" y="3083"/>
                </a:lnTo>
                <a:lnTo>
                  <a:pt x="9799" y="2296"/>
                </a:lnTo>
                <a:lnTo>
                  <a:pt x="10492" y="1603"/>
                </a:lnTo>
                <a:close/>
                <a:moveTo>
                  <a:pt x="6270" y="6108"/>
                </a:moveTo>
                <a:cubicBezTo>
                  <a:pt x="6396" y="6108"/>
                  <a:pt x="6459" y="6139"/>
                  <a:pt x="6554" y="6234"/>
                </a:cubicBezTo>
                <a:cubicBezTo>
                  <a:pt x="6617" y="6265"/>
                  <a:pt x="6648" y="6391"/>
                  <a:pt x="6648" y="6486"/>
                </a:cubicBezTo>
                <a:cubicBezTo>
                  <a:pt x="6648" y="6738"/>
                  <a:pt x="6459" y="6927"/>
                  <a:pt x="6270" y="6927"/>
                </a:cubicBezTo>
                <a:cubicBezTo>
                  <a:pt x="6081" y="6927"/>
                  <a:pt x="5861" y="6738"/>
                  <a:pt x="5861" y="6486"/>
                </a:cubicBezTo>
                <a:cubicBezTo>
                  <a:pt x="5861" y="6265"/>
                  <a:pt x="6081" y="6108"/>
                  <a:pt x="6270" y="6108"/>
                </a:cubicBezTo>
                <a:close/>
                <a:moveTo>
                  <a:pt x="6176" y="4375"/>
                </a:moveTo>
                <a:cubicBezTo>
                  <a:pt x="6617" y="4375"/>
                  <a:pt x="7026" y="4501"/>
                  <a:pt x="7341" y="4722"/>
                </a:cubicBezTo>
                <a:lnTo>
                  <a:pt x="6743" y="5320"/>
                </a:lnTo>
                <a:cubicBezTo>
                  <a:pt x="6617" y="5289"/>
                  <a:pt x="6428" y="5226"/>
                  <a:pt x="6239" y="5226"/>
                </a:cubicBezTo>
                <a:cubicBezTo>
                  <a:pt x="5546" y="5226"/>
                  <a:pt x="5010" y="5793"/>
                  <a:pt x="5010" y="6454"/>
                </a:cubicBezTo>
                <a:cubicBezTo>
                  <a:pt x="5010" y="7116"/>
                  <a:pt x="5546" y="7715"/>
                  <a:pt x="6239" y="7715"/>
                </a:cubicBezTo>
                <a:cubicBezTo>
                  <a:pt x="6900" y="7715"/>
                  <a:pt x="7467" y="7147"/>
                  <a:pt x="7467" y="6454"/>
                </a:cubicBezTo>
                <a:cubicBezTo>
                  <a:pt x="7467" y="6265"/>
                  <a:pt x="7404" y="6108"/>
                  <a:pt x="7341" y="5887"/>
                </a:cubicBezTo>
                <a:lnTo>
                  <a:pt x="7908" y="5320"/>
                </a:lnTo>
                <a:cubicBezTo>
                  <a:pt x="8160" y="5635"/>
                  <a:pt x="8286" y="6013"/>
                  <a:pt x="8286" y="6454"/>
                </a:cubicBezTo>
                <a:cubicBezTo>
                  <a:pt x="8286" y="7588"/>
                  <a:pt x="7341" y="8534"/>
                  <a:pt x="6176" y="8534"/>
                </a:cubicBezTo>
                <a:cubicBezTo>
                  <a:pt x="5041" y="8534"/>
                  <a:pt x="4096" y="7588"/>
                  <a:pt x="4096" y="6454"/>
                </a:cubicBezTo>
                <a:cubicBezTo>
                  <a:pt x="4096" y="5320"/>
                  <a:pt x="5041" y="4375"/>
                  <a:pt x="6176" y="4375"/>
                </a:cubicBezTo>
                <a:close/>
                <a:moveTo>
                  <a:pt x="6239" y="2800"/>
                </a:moveTo>
                <a:cubicBezTo>
                  <a:pt x="7089" y="2800"/>
                  <a:pt x="7908" y="3115"/>
                  <a:pt x="8539" y="3619"/>
                </a:cubicBezTo>
                <a:lnTo>
                  <a:pt x="7971" y="4217"/>
                </a:lnTo>
                <a:cubicBezTo>
                  <a:pt x="7499" y="3839"/>
                  <a:pt x="6869" y="3619"/>
                  <a:pt x="6239" y="3619"/>
                </a:cubicBezTo>
                <a:cubicBezTo>
                  <a:pt x="4600" y="3619"/>
                  <a:pt x="3309" y="4911"/>
                  <a:pt x="3309" y="6486"/>
                </a:cubicBezTo>
                <a:cubicBezTo>
                  <a:pt x="3309" y="8124"/>
                  <a:pt x="4632" y="9416"/>
                  <a:pt x="6239" y="9416"/>
                </a:cubicBezTo>
                <a:cubicBezTo>
                  <a:pt x="7845" y="9416"/>
                  <a:pt x="9137" y="8124"/>
                  <a:pt x="9137" y="6486"/>
                </a:cubicBezTo>
                <a:cubicBezTo>
                  <a:pt x="9137" y="5856"/>
                  <a:pt x="8948" y="5226"/>
                  <a:pt x="8539" y="4753"/>
                </a:cubicBezTo>
                <a:lnTo>
                  <a:pt x="9137" y="4154"/>
                </a:lnTo>
                <a:cubicBezTo>
                  <a:pt x="9641" y="4816"/>
                  <a:pt x="9956" y="5604"/>
                  <a:pt x="9956" y="6486"/>
                </a:cubicBezTo>
                <a:cubicBezTo>
                  <a:pt x="9956" y="8534"/>
                  <a:pt x="8318" y="10235"/>
                  <a:pt x="6239" y="10235"/>
                </a:cubicBezTo>
                <a:cubicBezTo>
                  <a:pt x="4191" y="10235"/>
                  <a:pt x="2490" y="8597"/>
                  <a:pt x="2490" y="6486"/>
                </a:cubicBezTo>
                <a:cubicBezTo>
                  <a:pt x="2490" y="4438"/>
                  <a:pt x="4128" y="2800"/>
                  <a:pt x="6239" y="2800"/>
                </a:cubicBezTo>
                <a:close/>
                <a:moveTo>
                  <a:pt x="6270" y="1130"/>
                </a:moveTo>
                <a:cubicBezTo>
                  <a:pt x="7247" y="1130"/>
                  <a:pt x="8223" y="1414"/>
                  <a:pt x="9074" y="1918"/>
                </a:cubicBezTo>
                <a:cubicBezTo>
                  <a:pt x="9074" y="1949"/>
                  <a:pt x="9011" y="2012"/>
                  <a:pt x="9011" y="2044"/>
                </a:cubicBezTo>
                <a:lnTo>
                  <a:pt x="8917" y="2831"/>
                </a:lnTo>
                <a:cubicBezTo>
                  <a:pt x="8160" y="2296"/>
                  <a:pt x="7247" y="1981"/>
                  <a:pt x="6270" y="1981"/>
                </a:cubicBezTo>
                <a:cubicBezTo>
                  <a:pt x="3750" y="1981"/>
                  <a:pt x="1733" y="4028"/>
                  <a:pt x="1733" y="6486"/>
                </a:cubicBezTo>
                <a:cubicBezTo>
                  <a:pt x="1733" y="9006"/>
                  <a:pt x="3781" y="11054"/>
                  <a:pt x="6270" y="11054"/>
                </a:cubicBezTo>
                <a:cubicBezTo>
                  <a:pt x="8759" y="11054"/>
                  <a:pt x="10807" y="9006"/>
                  <a:pt x="10807" y="6486"/>
                </a:cubicBezTo>
                <a:cubicBezTo>
                  <a:pt x="10807" y="5509"/>
                  <a:pt x="10492" y="4596"/>
                  <a:pt x="9925" y="3871"/>
                </a:cubicBezTo>
                <a:lnTo>
                  <a:pt x="10712" y="3745"/>
                </a:lnTo>
                <a:cubicBezTo>
                  <a:pt x="10744" y="3745"/>
                  <a:pt x="10807" y="3745"/>
                  <a:pt x="10838" y="3713"/>
                </a:cubicBezTo>
                <a:cubicBezTo>
                  <a:pt x="11342" y="4533"/>
                  <a:pt x="11626" y="5478"/>
                  <a:pt x="11626" y="6486"/>
                </a:cubicBezTo>
                <a:cubicBezTo>
                  <a:pt x="11626" y="9447"/>
                  <a:pt x="9232" y="11873"/>
                  <a:pt x="6270" y="11873"/>
                </a:cubicBezTo>
                <a:cubicBezTo>
                  <a:pt x="3309" y="11873"/>
                  <a:pt x="914" y="9479"/>
                  <a:pt x="914" y="6486"/>
                </a:cubicBezTo>
                <a:cubicBezTo>
                  <a:pt x="914" y="3524"/>
                  <a:pt x="3309" y="1130"/>
                  <a:pt x="6270" y="1130"/>
                </a:cubicBezTo>
                <a:close/>
                <a:moveTo>
                  <a:pt x="11030" y="0"/>
                </a:moveTo>
                <a:cubicBezTo>
                  <a:pt x="10930" y="0"/>
                  <a:pt x="10829" y="37"/>
                  <a:pt x="10744" y="122"/>
                </a:cubicBezTo>
                <a:lnTo>
                  <a:pt x="9610" y="1256"/>
                </a:lnTo>
                <a:cubicBezTo>
                  <a:pt x="8602" y="594"/>
                  <a:pt x="7467" y="279"/>
                  <a:pt x="6239" y="279"/>
                </a:cubicBezTo>
                <a:cubicBezTo>
                  <a:pt x="2805" y="279"/>
                  <a:pt x="1" y="3020"/>
                  <a:pt x="1" y="6486"/>
                </a:cubicBezTo>
                <a:cubicBezTo>
                  <a:pt x="1" y="9920"/>
                  <a:pt x="2773" y="12724"/>
                  <a:pt x="6239" y="12724"/>
                </a:cubicBezTo>
                <a:cubicBezTo>
                  <a:pt x="9641" y="12724"/>
                  <a:pt x="12445" y="9951"/>
                  <a:pt x="12445" y="6486"/>
                </a:cubicBezTo>
                <a:cubicBezTo>
                  <a:pt x="12445" y="5289"/>
                  <a:pt x="12099" y="4123"/>
                  <a:pt x="11468" y="3115"/>
                </a:cubicBezTo>
                <a:lnTo>
                  <a:pt x="12603" y="1981"/>
                </a:lnTo>
                <a:cubicBezTo>
                  <a:pt x="12877" y="1706"/>
                  <a:pt x="12650" y="1255"/>
                  <a:pt x="12292" y="1255"/>
                </a:cubicBezTo>
                <a:cubicBezTo>
                  <a:pt x="12280" y="1255"/>
                  <a:pt x="12268" y="1255"/>
                  <a:pt x="12256" y="1256"/>
                </a:cubicBezTo>
                <a:lnTo>
                  <a:pt x="11342" y="1382"/>
                </a:lnTo>
                <a:lnTo>
                  <a:pt x="11468" y="468"/>
                </a:lnTo>
                <a:cubicBezTo>
                  <a:pt x="11491" y="203"/>
                  <a:pt x="11265" y="0"/>
                  <a:pt x="110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EXPECTED OUTCOME</a:t>
            </a:r>
            <a:endParaRPr/>
          </a:p>
        </p:txBody>
      </p:sp>
      <p:sp>
        <p:nvSpPr>
          <p:cNvPr id="900" name="Google Shape;900;p37"/>
          <p:cNvSpPr txBox="1"/>
          <p:nvPr>
            <p:ph idx="1" type="subTitle"/>
          </p:nvPr>
        </p:nvSpPr>
        <p:spPr>
          <a:xfrm>
            <a:off x="839450" y="1017725"/>
            <a:ext cx="7465200" cy="1080900"/>
          </a:xfrm>
          <a:prstGeom prst="rect">
            <a:avLst/>
          </a:prstGeom>
          <a:solidFill>
            <a:srgbClr val="46406B">
              <a:alpha val="200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Reliable Semantic Foundation</a:t>
            </a:r>
            <a:endParaRPr b="1" sz="1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  <a:t>Advanced NLP bridges terminology gaps, ensuring consistent, trustworthy data across the platform.</a:t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01" name="Google Shape;901;p37"/>
          <p:cNvSpPr txBox="1"/>
          <p:nvPr/>
        </p:nvSpPr>
        <p:spPr>
          <a:xfrm>
            <a:off x="839350" y="2371500"/>
            <a:ext cx="7465200" cy="1080900"/>
          </a:xfrm>
          <a:prstGeom prst="rect">
            <a:avLst/>
          </a:prstGeom>
          <a:solidFill>
            <a:srgbClr val="69639C">
              <a:alpha val="2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Advanced Analytics</a:t>
            </a:r>
            <a:endParaRPr b="1" sz="1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Unlocked by consistent data, the platform will offer enhanced search and meta-analysis for deeper insights</a:t>
            </a:r>
            <a:endParaRPr sz="16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02" name="Google Shape;902;p37"/>
          <p:cNvSpPr txBox="1"/>
          <p:nvPr/>
        </p:nvSpPr>
        <p:spPr>
          <a:xfrm>
            <a:off x="839350" y="3725275"/>
            <a:ext cx="7465200" cy="1080900"/>
          </a:xfrm>
          <a:prstGeom prst="rect">
            <a:avLst/>
          </a:prstGeom>
          <a:solidFill>
            <a:srgbClr val="46406B">
              <a:alpha val="2000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Stakeholder Value</a:t>
            </a:r>
            <a:endParaRPr b="1" sz="1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These capabilities will deliver essential indirect benefits for researchers, clinicians, and ultimately, patients.</a:t>
            </a:r>
            <a:endParaRPr sz="16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8"/>
          <p:cNvSpPr txBox="1"/>
          <p:nvPr>
            <p:ph type="title"/>
          </p:nvPr>
        </p:nvSpPr>
        <p:spPr>
          <a:xfrm>
            <a:off x="1136800" y="2325725"/>
            <a:ext cx="4086000" cy="98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PROJECT DESIGN</a:t>
            </a:r>
            <a:endParaRPr sz="2700"/>
          </a:p>
        </p:txBody>
      </p:sp>
      <p:sp>
        <p:nvSpPr>
          <p:cNvPr id="908" name="Google Shape;908;p38"/>
          <p:cNvSpPr txBox="1"/>
          <p:nvPr>
            <p:ph idx="2" type="title"/>
          </p:nvPr>
        </p:nvSpPr>
        <p:spPr>
          <a:xfrm>
            <a:off x="4819150" y="2325725"/>
            <a:ext cx="1343100" cy="98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09" name="Google Shape;909;p38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8"/>
          <p:cNvSpPr/>
          <p:nvPr/>
        </p:nvSpPr>
        <p:spPr>
          <a:xfrm>
            <a:off x="7016375" y="-1615175"/>
            <a:ext cx="1633483" cy="5920031"/>
          </a:xfrm>
          <a:custGeom>
            <a:rect b="b" l="l" r="r" t="t"/>
            <a:pathLst>
              <a:path extrusionOk="0" h="65507" w="18075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911" name="Google Shape;911;p38"/>
          <p:cNvGrpSpPr/>
          <p:nvPr/>
        </p:nvGrpSpPr>
        <p:grpSpPr>
          <a:xfrm flipH="1" rot="10800000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912" name="Google Shape;912;p3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3" name="Google Shape;913;p3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4" name="Google Shape;914;p3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5" name="Google Shape;915;p38"/>
          <p:cNvGrpSpPr/>
          <p:nvPr/>
        </p:nvGrpSpPr>
        <p:grpSpPr>
          <a:xfrm flipH="1" rot="-5400000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916" name="Google Shape;916;p3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7" name="Google Shape;917;p3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8" name="Google Shape;918;p3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9" name="Google Shape;919;p38"/>
          <p:cNvSpPr/>
          <p:nvPr/>
        </p:nvSpPr>
        <p:spPr>
          <a:xfrm rot="-5400000">
            <a:off x="5572485" y="-2452153"/>
            <a:ext cx="1971347" cy="6005438"/>
          </a:xfrm>
          <a:custGeom>
            <a:rect b="b" l="l" r="r" t="t"/>
            <a:pathLst>
              <a:path extrusionOk="0" h="191668" w="62917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920" name="Google Shape;920;p38"/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921" name="Google Shape;921;p38"/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8"/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8"/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39"/>
          <p:cNvSpPr txBox="1"/>
          <p:nvPr>
            <p:ph type="title"/>
          </p:nvPr>
        </p:nvSpPr>
        <p:spPr>
          <a:xfrm>
            <a:off x="720000" y="4486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STAKEHOLDERS</a:t>
            </a:r>
            <a:endParaRPr/>
          </a:p>
        </p:txBody>
      </p:sp>
      <p:sp>
        <p:nvSpPr>
          <p:cNvPr id="929" name="Google Shape;929;p39"/>
          <p:cNvSpPr/>
          <p:nvPr/>
        </p:nvSpPr>
        <p:spPr>
          <a:xfrm>
            <a:off x="1830339" y="2118919"/>
            <a:ext cx="5808" cy="26"/>
          </a:xfrm>
          <a:custGeom>
            <a:rect b="b" l="l" r="r" t="t"/>
            <a:pathLst>
              <a:path extrusionOk="0" h="1" w="221">
                <a:moveTo>
                  <a:pt x="1" y="1"/>
                </a:moveTo>
                <a:lnTo>
                  <a:pt x="221" y="1"/>
                </a:lnTo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83100" lIns="83100" spcFirstLastPara="1" rIns="83100" wrap="square" tIns="8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39"/>
          <p:cNvSpPr txBox="1"/>
          <p:nvPr/>
        </p:nvSpPr>
        <p:spPr>
          <a:xfrm>
            <a:off x="11738375" y="2140925"/>
            <a:ext cx="11418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Policymakers </a:t>
            </a:r>
            <a:endParaRPr b="1" sz="9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931" name="Google Shape;931;p39"/>
          <p:cNvGrpSpPr/>
          <p:nvPr/>
        </p:nvGrpSpPr>
        <p:grpSpPr>
          <a:xfrm>
            <a:off x="3195125" y="2132800"/>
            <a:ext cx="2837148" cy="2829930"/>
            <a:chOff x="5836219" y="2127201"/>
            <a:chExt cx="641700" cy="640038"/>
          </a:xfrm>
        </p:grpSpPr>
        <p:sp>
          <p:nvSpPr>
            <p:cNvPr id="932" name="Google Shape;932;p39"/>
            <p:cNvSpPr/>
            <p:nvPr/>
          </p:nvSpPr>
          <p:spPr>
            <a:xfrm>
              <a:off x="5836219" y="2127201"/>
              <a:ext cx="641700" cy="636900"/>
            </a:xfrm>
            <a:prstGeom prst="ellipse">
              <a:avLst/>
            </a:prstGeom>
            <a:noFill/>
            <a:ln cap="flat" cmpd="sng" w="16250">
              <a:solidFill>
                <a:srgbClr val="AFAF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91400" lIns="391400" spcFirstLastPara="1" rIns="391400" wrap="square" tIns="3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5"/>
            </a:p>
          </p:txBody>
        </p:sp>
        <p:sp>
          <p:nvSpPr>
            <p:cNvPr id="933" name="Google Shape;933;p39"/>
            <p:cNvSpPr/>
            <p:nvPr/>
          </p:nvSpPr>
          <p:spPr>
            <a:xfrm>
              <a:off x="5890220" y="2263839"/>
              <a:ext cx="533700" cy="503400"/>
            </a:xfrm>
            <a:prstGeom prst="ellipse">
              <a:avLst/>
            </a:prstGeom>
            <a:solidFill>
              <a:srgbClr val="69639C">
                <a:alpha val="45000"/>
              </a:srgbClr>
            </a:solidFill>
            <a:ln cap="flat" cmpd="sng" w="162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91400" lIns="391400" spcFirstLastPara="1" rIns="391400" wrap="square" tIns="3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5"/>
            </a:p>
          </p:txBody>
        </p:sp>
        <p:sp>
          <p:nvSpPr>
            <p:cNvPr id="934" name="Google Shape;934;p39"/>
            <p:cNvSpPr/>
            <p:nvPr/>
          </p:nvSpPr>
          <p:spPr>
            <a:xfrm>
              <a:off x="5977068" y="2427491"/>
              <a:ext cx="355800" cy="339600"/>
            </a:xfrm>
            <a:prstGeom prst="ellipse">
              <a:avLst/>
            </a:prstGeom>
            <a:solidFill>
              <a:schemeClr val="dk1"/>
            </a:solidFill>
            <a:ln cap="flat" cmpd="sng" w="16250">
              <a:solidFill>
                <a:srgbClr val="00CA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91400" lIns="391400" spcFirstLastPara="1" rIns="391400" wrap="square" tIns="3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5"/>
            </a:p>
          </p:txBody>
        </p:sp>
      </p:grpSp>
      <p:pic>
        <p:nvPicPr>
          <p:cNvPr id="935" name="Google Shape;935;p39" title="Screenshot_2025-11-12_at_10.01.36-removebg-preview.png"/>
          <p:cNvPicPr preferRelativeResize="0"/>
          <p:nvPr/>
        </p:nvPicPr>
        <p:blipFill rotWithShape="1">
          <a:blip r:embed="rId3">
            <a:alphaModFix/>
          </a:blip>
          <a:srcRect b="21396" l="0" r="0" t="0"/>
          <a:stretch/>
        </p:blipFill>
        <p:spPr>
          <a:xfrm>
            <a:off x="4008000" y="4075675"/>
            <a:ext cx="1198700" cy="30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6" name="Google Shape;936;p39"/>
          <p:cNvCxnSpPr>
            <a:stCxn id="934" idx="1"/>
            <a:endCxn id="937" idx="3"/>
          </p:cNvCxnSpPr>
          <p:nvPr/>
        </p:nvCxnSpPr>
        <p:spPr>
          <a:xfrm rot="10800000">
            <a:off x="2765435" y="2571629"/>
            <a:ext cx="1282800" cy="1108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937" name="Google Shape;937;p39"/>
          <p:cNvSpPr txBox="1"/>
          <p:nvPr/>
        </p:nvSpPr>
        <p:spPr>
          <a:xfrm>
            <a:off x="901150" y="2174700"/>
            <a:ext cx="1864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CADA"/>
                </a:solidFill>
                <a:latin typeface="Raleway"/>
                <a:ea typeface="Raleway"/>
                <a:cs typeface="Raleway"/>
                <a:sym typeface="Raleway"/>
              </a:rPr>
              <a:t>Direct Stakeholders</a:t>
            </a:r>
            <a:endParaRPr b="1" sz="1300">
              <a:solidFill>
                <a:srgbClr val="00CAD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Repertorio Technical Team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38" name="Google Shape;938;p39"/>
          <p:cNvSpPr txBox="1"/>
          <p:nvPr/>
        </p:nvSpPr>
        <p:spPr>
          <a:xfrm>
            <a:off x="6655413" y="2756500"/>
            <a:ext cx="22950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9639C"/>
                </a:solidFill>
                <a:latin typeface="Raleway"/>
                <a:ea typeface="Raleway"/>
                <a:cs typeface="Raleway"/>
                <a:sym typeface="Raleway"/>
              </a:rPr>
              <a:t>Ind</a:t>
            </a:r>
            <a:r>
              <a:rPr b="1" lang="en" sz="1300">
                <a:solidFill>
                  <a:srgbClr val="69639C"/>
                </a:solidFill>
                <a:latin typeface="Raleway"/>
                <a:ea typeface="Raleway"/>
                <a:cs typeface="Raleway"/>
                <a:sym typeface="Raleway"/>
              </a:rPr>
              <a:t>irect Stakeholders</a:t>
            </a:r>
            <a:endParaRPr b="1" sz="1300">
              <a:solidFill>
                <a:srgbClr val="69639C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Academic Researchers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Pharma &amp; Biotech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Clinical and R&amp;D Units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Healthcare Professionals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939" name="Google Shape;939;p39"/>
          <p:cNvCxnSpPr>
            <a:stCxn id="933" idx="6"/>
            <a:endCxn id="938" idx="1"/>
          </p:cNvCxnSpPr>
          <p:nvPr/>
        </p:nvCxnSpPr>
        <p:spPr>
          <a:xfrm flipH="1" rot="10800000">
            <a:off x="5793526" y="3384539"/>
            <a:ext cx="861900" cy="465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940" name="Google Shape;940;p39"/>
          <p:cNvSpPr txBox="1"/>
          <p:nvPr/>
        </p:nvSpPr>
        <p:spPr>
          <a:xfrm>
            <a:off x="5616775" y="972313"/>
            <a:ext cx="21711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AFAFB6"/>
                </a:solidFill>
                <a:latin typeface="Raleway"/>
                <a:ea typeface="Raleway"/>
                <a:cs typeface="Raleway"/>
                <a:sym typeface="Raleway"/>
              </a:rPr>
              <a:t>External </a:t>
            </a:r>
            <a:r>
              <a:rPr b="1" lang="en" sz="1300">
                <a:solidFill>
                  <a:srgbClr val="AFAFB6"/>
                </a:solidFill>
                <a:latin typeface="Raleway"/>
                <a:ea typeface="Raleway"/>
                <a:cs typeface="Raleway"/>
                <a:sym typeface="Raleway"/>
              </a:rPr>
              <a:t>Stakeholders</a:t>
            </a:r>
            <a:endParaRPr b="1" sz="1300">
              <a:solidFill>
                <a:srgbClr val="AFAFB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Policy Makers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HTA Bodies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Patients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941" name="Google Shape;941;p39"/>
          <p:cNvCxnSpPr>
            <a:stCxn id="932" idx="7"/>
            <a:endCxn id="940" idx="2"/>
          </p:cNvCxnSpPr>
          <p:nvPr/>
        </p:nvCxnSpPr>
        <p:spPr>
          <a:xfrm flipH="1" rot="10800000">
            <a:off x="5616782" y="1868102"/>
            <a:ext cx="1085400" cy="677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PERSONA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40"/>
          <p:cNvSpPr/>
          <p:nvPr/>
        </p:nvSpPr>
        <p:spPr>
          <a:xfrm>
            <a:off x="3517875" y="1492300"/>
            <a:ext cx="2074200" cy="2076000"/>
          </a:xfrm>
          <a:prstGeom prst="ellipse">
            <a:avLst/>
          </a:prstGeom>
          <a:solidFill>
            <a:srgbClr val="46406B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8" name="Google Shape;948;p40"/>
          <p:cNvSpPr txBox="1"/>
          <p:nvPr/>
        </p:nvSpPr>
        <p:spPr>
          <a:xfrm>
            <a:off x="3395700" y="3568150"/>
            <a:ext cx="23526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JOHN SMITH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LEAD DATA ENGINEER</a:t>
            </a:r>
            <a:endParaRPr b="1" sz="12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49" name="Google Shape;949;p40"/>
          <p:cNvSpPr txBox="1"/>
          <p:nvPr/>
        </p:nvSpPr>
        <p:spPr>
          <a:xfrm>
            <a:off x="720000" y="1208850"/>
            <a:ext cx="25026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DEMOGRAPHICS</a:t>
            </a:r>
            <a:endParaRPr b="1" sz="13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45 years old • Turin, Italy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Senior Data Engineer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50" name="Google Shape;950;p40"/>
          <p:cNvSpPr txBox="1"/>
          <p:nvPr/>
        </p:nvSpPr>
        <p:spPr>
          <a:xfrm>
            <a:off x="767550" y="2334175"/>
            <a:ext cx="24075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9639C"/>
                </a:solidFill>
                <a:latin typeface="Raleway"/>
                <a:ea typeface="Raleway"/>
                <a:cs typeface="Raleway"/>
                <a:sym typeface="Raleway"/>
              </a:rPr>
              <a:t>TASKS &amp; HABITS</a:t>
            </a:r>
            <a:endParaRPr b="1" sz="1300">
              <a:solidFill>
                <a:srgbClr val="69639C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- </a:t>
            </a: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Writes Python scripts daily.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- Aligns continuously with R&amp;D.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51" name="Google Shape;951;p40"/>
          <p:cNvSpPr txBox="1"/>
          <p:nvPr/>
        </p:nvSpPr>
        <p:spPr>
          <a:xfrm>
            <a:off x="767550" y="3568150"/>
            <a:ext cx="27885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PAIN POINTS</a:t>
            </a:r>
            <a:endParaRPr b="1" sz="13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- </a:t>
            </a: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Frustrated by brittle scripts.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- Manual data alignment is a bottleneck.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52" name="Google Shape;952;p40"/>
          <p:cNvSpPr txBox="1"/>
          <p:nvPr/>
        </p:nvSpPr>
        <p:spPr>
          <a:xfrm>
            <a:off x="5883750" y="1107450"/>
            <a:ext cx="3056100" cy="11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NEEDS AND GOALS</a:t>
            </a:r>
            <a:endParaRPr b="1"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- </a:t>
            </a: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Automated, scalable alignment pipeline.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- Stop being the manual bottleneck.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53" name="Google Shape;953;p40"/>
          <p:cNvSpPr txBox="1"/>
          <p:nvPr/>
        </p:nvSpPr>
        <p:spPr>
          <a:xfrm>
            <a:off x="5968950" y="2421825"/>
            <a:ext cx="29709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EXPECTED OUTPUT</a:t>
            </a:r>
            <a:endParaRPr b="1"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- </a:t>
            </a: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Reliable AI Model (API).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- Clear semantic match scores.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54" name="Google Shape;954;p40"/>
          <p:cNvSpPr txBox="1"/>
          <p:nvPr/>
        </p:nvSpPr>
        <p:spPr>
          <a:xfrm>
            <a:off x="5968950" y="3568150"/>
            <a:ext cx="29709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DATA USAGE</a:t>
            </a: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- </a:t>
            </a: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Input: Messy OAEI / OWL files.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- Output: Clean Knowledge Graph.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955" name="Google Shape;955;p40" title="Gemini_Generated_Image_v6chq8v6chq8v6ch.png"/>
          <p:cNvPicPr preferRelativeResize="0"/>
          <p:nvPr/>
        </p:nvPicPr>
        <p:blipFill rotWithShape="1">
          <a:blip r:embed="rId3">
            <a:alphaModFix/>
          </a:blip>
          <a:srcRect b="16762" l="33445" r="32831" t="12864"/>
          <a:stretch/>
        </p:blipFill>
        <p:spPr>
          <a:xfrm>
            <a:off x="3840888" y="1918385"/>
            <a:ext cx="1449388" cy="1649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41"/>
          <p:cNvSpPr txBox="1"/>
          <p:nvPr>
            <p:ph type="title"/>
          </p:nvPr>
        </p:nvSpPr>
        <p:spPr>
          <a:xfrm>
            <a:off x="720000" y="4565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FUNCTIONAL DIAGRAM</a:t>
            </a:r>
            <a:endParaRPr/>
          </a:p>
        </p:txBody>
      </p:sp>
      <p:sp>
        <p:nvSpPr>
          <p:cNvPr id="961" name="Google Shape;961;p41"/>
          <p:cNvSpPr txBox="1"/>
          <p:nvPr/>
        </p:nvSpPr>
        <p:spPr>
          <a:xfrm>
            <a:off x="532800" y="1515150"/>
            <a:ext cx="1303200" cy="484500"/>
          </a:xfrm>
          <a:prstGeom prst="rect">
            <a:avLst/>
          </a:prstGeom>
          <a:solidFill>
            <a:srgbClr val="E0E0E0">
              <a:alpha val="20000"/>
            </a:srgbClr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0E0E0"/>
                </a:solidFill>
                <a:latin typeface="Raleway"/>
                <a:ea typeface="Raleway"/>
                <a:cs typeface="Raleway"/>
                <a:sym typeface="Raleway"/>
              </a:rPr>
              <a:t>SOURCE ONTOLOGY</a:t>
            </a:r>
            <a:endParaRPr b="1" sz="1200">
              <a:solidFill>
                <a:srgbClr val="E0E0E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62" name="Google Shape;962;p41"/>
          <p:cNvSpPr txBox="1"/>
          <p:nvPr/>
        </p:nvSpPr>
        <p:spPr>
          <a:xfrm>
            <a:off x="1935200" y="1515150"/>
            <a:ext cx="1238400" cy="484500"/>
          </a:xfrm>
          <a:prstGeom prst="rect">
            <a:avLst/>
          </a:prstGeom>
          <a:solidFill>
            <a:srgbClr val="E0E0E0">
              <a:alpha val="20000"/>
            </a:srgbClr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0E0E0"/>
                </a:solidFill>
                <a:latin typeface="Raleway"/>
                <a:ea typeface="Raleway"/>
                <a:cs typeface="Raleway"/>
                <a:sym typeface="Raleway"/>
              </a:rPr>
              <a:t>TARGET ONTOLOGY</a:t>
            </a:r>
            <a:endParaRPr b="1" sz="1200">
              <a:solidFill>
                <a:srgbClr val="E0E0E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63" name="Google Shape;963;p41"/>
          <p:cNvSpPr txBox="1"/>
          <p:nvPr/>
        </p:nvSpPr>
        <p:spPr>
          <a:xfrm>
            <a:off x="821125" y="3014700"/>
            <a:ext cx="2052900" cy="808500"/>
          </a:xfrm>
          <a:prstGeom prst="rect">
            <a:avLst/>
          </a:prstGeom>
          <a:solidFill>
            <a:srgbClr val="E0E0E0">
              <a:alpha val="20000"/>
            </a:srgbClr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0E0E0"/>
                </a:solidFill>
                <a:latin typeface="Raleway"/>
                <a:ea typeface="Raleway"/>
                <a:cs typeface="Raleway"/>
                <a:sym typeface="Raleway"/>
              </a:rPr>
              <a:t>PREPROCESSING</a:t>
            </a:r>
            <a:r>
              <a:rPr lang="en" sz="11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Tokenization</a:t>
            </a:r>
            <a:endParaRPr sz="11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Embedding preparation</a:t>
            </a:r>
            <a:endParaRPr i="1" sz="11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64" name="Google Shape;964;p41"/>
          <p:cNvSpPr txBox="1"/>
          <p:nvPr/>
        </p:nvSpPr>
        <p:spPr>
          <a:xfrm>
            <a:off x="821125" y="1110813"/>
            <a:ext cx="2052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0E0E0"/>
                </a:solidFill>
                <a:latin typeface="Raleway"/>
                <a:ea typeface="Raleway"/>
                <a:cs typeface="Raleway"/>
                <a:sym typeface="Raleway"/>
              </a:rPr>
              <a:t>INPUT &amp; </a:t>
            </a:r>
            <a:r>
              <a:rPr b="1" lang="en" sz="1200">
                <a:solidFill>
                  <a:srgbClr val="E0E0E0"/>
                </a:solidFill>
                <a:latin typeface="Raleway"/>
                <a:ea typeface="Raleway"/>
                <a:cs typeface="Raleway"/>
                <a:sym typeface="Raleway"/>
              </a:rPr>
              <a:t>STANDARDS</a:t>
            </a:r>
            <a:endParaRPr b="1" sz="1200">
              <a:solidFill>
                <a:srgbClr val="E0E0E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965" name="Google Shape;965;p41"/>
          <p:cNvCxnSpPr>
            <a:stCxn id="961" idx="2"/>
            <a:endCxn id="963" idx="0"/>
          </p:cNvCxnSpPr>
          <p:nvPr/>
        </p:nvCxnSpPr>
        <p:spPr>
          <a:xfrm flipH="1" rot="-5400000">
            <a:off x="1008450" y="2175600"/>
            <a:ext cx="1015200" cy="6633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rgbClr val="E0E0E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6" name="Google Shape;966;p41"/>
          <p:cNvCxnSpPr>
            <a:stCxn id="962" idx="2"/>
            <a:endCxn id="963" idx="0"/>
          </p:cNvCxnSpPr>
          <p:nvPr/>
        </p:nvCxnSpPr>
        <p:spPr>
          <a:xfrm rot="5400000">
            <a:off x="1693400" y="2153850"/>
            <a:ext cx="1015200" cy="7068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rgbClr val="E0E0E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7" name="Google Shape;967;p41"/>
          <p:cNvSpPr txBox="1"/>
          <p:nvPr/>
        </p:nvSpPr>
        <p:spPr>
          <a:xfrm>
            <a:off x="3803563" y="1451725"/>
            <a:ext cx="2052900" cy="611400"/>
          </a:xfrm>
          <a:prstGeom prst="rect">
            <a:avLst/>
          </a:prstGeom>
          <a:solidFill>
            <a:srgbClr val="69639C">
              <a:alpha val="20000"/>
            </a:srgbClr>
          </a:solidFill>
          <a:ln cap="flat" cmpd="sng" w="9525">
            <a:solidFill>
              <a:srgbClr val="6963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FEATURE EXTRACTION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Transformer-based models </a:t>
            </a:r>
            <a:endParaRPr sz="11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68" name="Google Shape;968;p41"/>
          <p:cNvSpPr/>
          <p:nvPr/>
        </p:nvSpPr>
        <p:spPr>
          <a:xfrm>
            <a:off x="3727812" y="3133888"/>
            <a:ext cx="2204400" cy="796800"/>
          </a:xfrm>
          <a:prstGeom prst="roundRect">
            <a:avLst>
              <a:gd fmla="val 16667" name="adj"/>
            </a:avLst>
          </a:prstGeom>
          <a:solidFill>
            <a:srgbClr val="69639C">
              <a:alpha val="20000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SEMANTIC ALIGNMENT MODEL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Similarity scoring/Classifier </a:t>
            </a:r>
            <a:endParaRPr sz="11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69" name="Google Shape;969;p41"/>
          <p:cNvCxnSpPr>
            <a:stCxn id="967" idx="2"/>
            <a:endCxn id="968" idx="0"/>
          </p:cNvCxnSpPr>
          <p:nvPr/>
        </p:nvCxnSpPr>
        <p:spPr>
          <a:xfrm flipH="1" rot="-5400000">
            <a:off x="4294963" y="2598175"/>
            <a:ext cx="1070700" cy="6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rgbClr val="69639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0" name="Google Shape;970;p41"/>
          <p:cNvSpPr txBox="1"/>
          <p:nvPr/>
        </p:nvSpPr>
        <p:spPr>
          <a:xfrm>
            <a:off x="3803538" y="1079088"/>
            <a:ext cx="2052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THE CORE ENGINE</a:t>
            </a:r>
            <a:endParaRPr b="1" sz="12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71" name="Google Shape;971;p41"/>
          <p:cNvSpPr txBox="1"/>
          <p:nvPr/>
        </p:nvSpPr>
        <p:spPr>
          <a:xfrm>
            <a:off x="6640625" y="2237400"/>
            <a:ext cx="2115000" cy="722100"/>
          </a:xfrm>
          <a:prstGeom prst="rect">
            <a:avLst/>
          </a:prstGeom>
          <a:solidFill>
            <a:srgbClr val="00CADA">
              <a:alpha val="2000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ALIGNMENT MAP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List of Matched Concepts (Confidence Scores)</a:t>
            </a:r>
            <a:endParaRPr sz="11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72" name="Google Shape;972;p41"/>
          <p:cNvSpPr txBox="1"/>
          <p:nvPr/>
        </p:nvSpPr>
        <p:spPr>
          <a:xfrm>
            <a:off x="6640625" y="3982825"/>
            <a:ext cx="2115000" cy="611400"/>
          </a:xfrm>
          <a:prstGeom prst="rect">
            <a:avLst/>
          </a:prstGeom>
          <a:solidFill>
            <a:srgbClr val="00CADA">
              <a:alpha val="2000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EVALUATION (MELT)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Matching Evaluation Toolkit.</a:t>
            </a:r>
            <a:endParaRPr sz="11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73" name="Google Shape;973;p41"/>
          <p:cNvSpPr txBox="1"/>
          <p:nvPr/>
        </p:nvSpPr>
        <p:spPr>
          <a:xfrm>
            <a:off x="6727325" y="1817175"/>
            <a:ext cx="19416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OUTPUT &amp; VALIDATION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974" name="Google Shape;974;p41"/>
          <p:cNvCxnSpPr>
            <a:stCxn id="963" idx="3"/>
            <a:endCxn id="967" idx="1"/>
          </p:cNvCxnSpPr>
          <p:nvPr/>
        </p:nvCxnSpPr>
        <p:spPr>
          <a:xfrm flipH="1" rot="10800000">
            <a:off x="2874025" y="1757550"/>
            <a:ext cx="929400" cy="16614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5" name="Google Shape;975;p41"/>
          <p:cNvCxnSpPr>
            <a:stCxn id="968" idx="3"/>
            <a:endCxn id="971" idx="1"/>
          </p:cNvCxnSpPr>
          <p:nvPr/>
        </p:nvCxnSpPr>
        <p:spPr>
          <a:xfrm flipH="1" rot="10800000">
            <a:off x="5932212" y="2598388"/>
            <a:ext cx="708300" cy="9339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6" name="Google Shape;976;p41"/>
          <p:cNvCxnSpPr>
            <a:stCxn id="968" idx="3"/>
            <a:endCxn id="972" idx="1"/>
          </p:cNvCxnSpPr>
          <p:nvPr/>
        </p:nvCxnSpPr>
        <p:spPr>
          <a:xfrm>
            <a:off x="5932212" y="3532288"/>
            <a:ext cx="708300" cy="7563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1" name="Google Shape;981;p42"/>
          <p:cNvGraphicFramePr/>
          <p:nvPr/>
        </p:nvGraphicFramePr>
        <p:xfrm>
          <a:off x="419475" y="10177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{F2088EB2-90B0-48BD-AB93-235CF122E81F}</a:tableStyleId>
              </a:tblPr>
              <a:tblGrid>
                <a:gridCol w="1504825"/>
                <a:gridCol w="3912475"/>
                <a:gridCol w="2887775"/>
              </a:tblGrid>
              <a:tr h="35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FUNCTIONAL</a:t>
                      </a:r>
                      <a:endParaRPr b="1" sz="12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0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NON-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FUNCTIONAL</a:t>
                      </a:r>
                      <a:endParaRPr sz="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036"/>
                    </a:solidFill>
                  </a:tcPr>
                </a:tc>
              </a:tr>
              <a:tr h="1548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MUST HAVE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0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rgbClr val="00CADA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Load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: the system must load an OAEI dataset (a track folder).</a:t>
                      </a:r>
                      <a:endParaRPr sz="9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rgbClr val="00CADA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Build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: the system must automatically build a dataset of pairs (concept A, concept B) and their associated text/graph features, ready for training.</a:t>
                      </a:r>
                      <a:endParaRPr sz="9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lt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Train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: the system must allow training a binary classifier for ontology alignment.</a:t>
                      </a:r>
                      <a:endParaRPr sz="9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lt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Evaluate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: the system must be able to evaluate the model on a test set and produce standard metrics.</a:t>
                      </a:r>
                      <a:endParaRPr sz="9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rgbClr val="00CADA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Generate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: the system must be able to generate an alignment file in one of the standard formats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(e.g., Alignment API RDF)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starting from the model’s predictions</a:t>
                      </a:r>
                      <a:endParaRPr sz="9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lt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Usability/Hardware Accessibility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: the system must be executable on machines with standard GPUs.</a:t>
                      </a:r>
                      <a:endParaRPr sz="9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lt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Reproducibility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: The system must be reproducible: same inputs, same parameters =&gt; same results.</a:t>
                      </a:r>
                      <a:endParaRPr sz="9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19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SHOULD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HAVE</a:t>
                      </a:r>
                      <a:endParaRPr sz="2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0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lt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Compare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: the system should implement and compare semantic encoding using domain-specific Language Models (e.g., BioBERT, SciBERT) against generic models (e.g., RoBERTa).</a:t>
                      </a:r>
                      <a:endParaRPr sz="9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lt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Transparency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: the system should be transparent regarding model version, OAEI tracks used for training, main hyperparameters.</a:t>
                      </a:r>
                      <a:endParaRPr sz="9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64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COULD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HAVE</a:t>
                      </a:r>
                      <a:endParaRPr sz="2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0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lt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Inspect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: the Domain Expert could be able to view and inspect the proposed alignments, with clear visibility of ambiguous cases.</a:t>
                      </a:r>
                      <a:endParaRPr sz="9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lt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Modularity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: the codebase could be structured into distinct modules, allowing the Repertorio team to retrain the model on future internal data.</a:t>
                      </a:r>
                      <a:endParaRPr sz="9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42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WON’T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HAVE</a:t>
                      </a:r>
                      <a:endParaRPr sz="2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0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lt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Collect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: the system won't collect questionnaires or collect raw patient preference data from hospitals or clinics.</a:t>
                      </a:r>
                      <a:endParaRPr sz="9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lt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Real-time inference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: the system won't require real-time processing.</a:t>
                      </a:r>
                      <a:endParaRPr sz="9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982" name="Google Shape;982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REQUIREMENTS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43"/>
          <p:cNvSpPr txBox="1"/>
          <p:nvPr>
            <p:ph type="title"/>
          </p:nvPr>
        </p:nvSpPr>
        <p:spPr>
          <a:xfrm>
            <a:off x="1136800" y="2325725"/>
            <a:ext cx="6005400" cy="12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PROJECT 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WORK MANAGEMENT 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STRUCTURE</a:t>
            </a:r>
            <a:endParaRPr sz="2700"/>
          </a:p>
        </p:txBody>
      </p:sp>
      <p:sp>
        <p:nvSpPr>
          <p:cNvPr id="988" name="Google Shape;988;p43"/>
          <p:cNvSpPr txBox="1"/>
          <p:nvPr>
            <p:ph idx="2" type="title"/>
          </p:nvPr>
        </p:nvSpPr>
        <p:spPr>
          <a:xfrm>
            <a:off x="5344150" y="2449175"/>
            <a:ext cx="1343100" cy="98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989" name="Google Shape;989;p43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43"/>
          <p:cNvSpPr/>
          <p:nvPr/>
        </p:nvSpPr>
        <p:spPr>
          <a:xfrm>
            <a:off x="7016375" y="-1615175"/>
            <a:ext cx="1633483" cy="5920031"/>
          </a:xfrm>
          <a:custGeom>
            <a:rect b="b" l="l" r="r" t="t"/>
            <a:pathLst>
              <a:path extrusionOk="0" h="65507" w="18075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991" name="Google Shape;991;p43"/>
          <p:cNvGrpSpPr/>
          <p:nvPr/>
        </p:nvGrpSpPr>
        <p:grpSpPr>
          <a:xfrm flipH="1" rot="10800000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992" name="Google Shape;992;p43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3" name="Google Shape;993;p43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94" name="Google Shape;994;p43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5" name="Google Shape;995;p43"/>
          <p:cNvGrpSpPr/>
          <p:nvPr/>
        </p:nvGrpSpPr>
        <p:grpSpPr>
          <a:xfrm flipH="1" rot="-5400000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996" name="Google Shape;996;p43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7" name="Google Shape;997;p43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98" name="Google Shape;998;p43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9" name="Google Shape;999;p43"/>
          <p:cNvSpPr/>
          <p:nvPr/>
        </p:nvSpPr>
        <p:spPr>
          <a:xfrm rot="-5400000">
            <a:off x="5572485" y="-2452153"/>
            <a:ext cx="1971347" cy="6005438"/>
          </a:xfrm>
          <a:custGeom>
            <a:rect b="b" l="l" r="r" t="t"/>
            <a:pathLst>
              <a:path extrusionOk="0" h="191668" w="62917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000" name="Google Shape;1000;p43"/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1001" name="Google Shape;1001;p43"/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43"/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43"/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WORK PACKAGES OVERVIEW</a:t>
            </a:r>
            <a:endParaRPr/>
          </a:p>
        </p:txBody>
      </p:sp>
      <p:sp>
        <p:nvSpPr>
          <p:cNvPr id="1009" name="Google Shape;1009;p44"/>
          <p:cNvSpPr txBox="1"/>
          <p:nvPr/>
        </p:nvSpPr>
        <p:spPr>
          <a:xfrm>
            <a:off x="755913" y="1017725"/>
            <a:ext cx="39729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WP1 — Domain Understanding &amp; High-Level Design</a:t>
            </a:r>
            <a:endParaRPr i="1" sz="12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T1 -&gt;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Stakeholder, persona &amp; pipeline analysis</a:t>
            </a:r>
            <a:endParaRPr b="1" sz="1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T2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Requirements definition + High-Level Functional Diagram</a:t>
            </a:r>
            <a:endParaRPr b="1" sz="1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T3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Dataset inspection &amp; MELT standards</a:t>
            </a:r>
            <a:endParaRPr b="1" sz="1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T4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Management Plan Construction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010" name="Google Shape;1010;p44"/>
          <p:cNvGrpSpPr/>
          <p:nvPr/>
        </p:nvGrpSpPr>
        <p:grpSpPr>
          <a:xfrm rot="-5400000">
            <a:off x="2755349" y="2949696"/>
            <a:ext cx="4045518" cy="91743"/>
            <a:chOff x="1464850" y="436376"/>
            <a:chExt cx="6001362" cy="222300"/>
          </a:xfrm>
        </p:grpSpPr>
        <p:sp>
          <p:nvSpPr>
            <p:cNvPr id="1011" name="Google Shape;1011;p44"/>
            <p:cNvSpPr/>
            <p:nvPr/>
          </p:nvSpPr>
          <p:spPr>
            <a:xfrm>
              <a:off x="1464850" y="436376"/>
              <a:ext cx="222300" cy="222300"/>
            </a:xfrm>
            <a:prstGeom prst="diamond">
              <a:avLst/>
            </a:prstGeom>
            <a:noFill/>
            <a:ln cap="flat" cmpd="sng" w="9525">
              <a:solidFill>
                <a:srgbClr val="3749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44"/>
            <p:cNvSpPr/>
            <p:nvPr/>
          </p:nvSpPr>
          <p:spPr>
            <a:xfrm>
              <a:off x="4410215" y="436376"/>
              <a:ext cx="222300" cy="222300"/>
            </a:xfrm>
            <a:prstGeom prst="diamond">
              <a:avLst/>
            </a:prstGeom>
            <a:noFill/>
            <a:ln cap="flat" cmpd="sng" w="9525">
              <a:solidFill>
                <a:srgbClr val="3749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44"/>
            <p:cNvSpPr/>
            <p:nvPr/>
          </p:nvSpPr>
          <p:spPr>
            <a:xfrm>
              <a:off x="7243912" y="436376"/>
              <a:ext cx="222300" cy="222300"/>
            </a:xfrm>
            <a:prstGeom prst="diamond">
              <a:avLst/>
            </a:prstGeom>
            <a:noFill/>
            <a:ln cap="flat" cmpd="sng" w="9525">
              <a:solidFill>
                <a:srgbClr val="3749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44"/>
            <p:cNvSpPr/>
            <p:nvPr/>
          </p:nvSpPr>
          <p:spPr>
            <a:xfrm>
              <a:off x="2920366" y="436376"/>
              <a:ext cx="222300" cy="222300"/>
            </a:xfrm>
            <a:prstGeom prst="diamond">
              <a:avLst/>
            </a:prstGeom>
            <a:noFill/>
            <a:ln cap="flat" cmpd="sng" w="9525">
              <a:solidFill>
                <a:srgbClr val="3749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44"/>
            <p:cNvSpPr/>
            <p:nvPr/>
          </p:nvSpPr>
          <p:spPr>
            <a:xfrm>
              <a:off x="5831847" y="436376"/>
              <a:ext cx="222300" cy="222300"/>
            </a:xfrm>
            <a:prstGeom prst="diamond">
              <a:avLst/>
            </a:prstGeom>
            <a:noFill/>
            <a:ln cap="flat" cmpd="sng" w="9525">
              <a:solidFill>
                <a:srgbClr val="3749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16" name="Google Shape;1016;p44"/>
            <p:cNvCxnSpPr/>
            <p:nvPr/>
          </p:nvCxnSpPr>
          <p:spPr>
            <a:xfrm>
              <a:off x="1798637" y="547513"/>
              <a:ext cx="988200" cy="0"/>
            </a:xfrm>
            <a:prstGeom prst="straightConnector1">
              <a:avLst/>
            </a:prstGeom>
            <a:noFill/>
            <a:ln cap="flat" cmpd="sng" w="9525">
              <a:solidFill>
                <a:srgbClr val="5F7D9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7" name="Google Shape;1017;p44"/>
            <p:cNvCxnSpPr/>
            <p:nvPr/>
          </p:nvCxnSpPr>
          <p:spPr>
            <a:xfrm>
              <a:off x="3276248" y="547513"/>
              <a:ext cx="988200" cy="0"/>
            </a:xfrm>
            <a:prstGeom prst="straightConnector1">
              <a:avLst/>
            </a:prstGeom>
            <a:noFill/>
            <a:ln cap="flat" cmpd="sng" w="9525">
              <a:solidFill>
                <a:srgbClr val="5F7D9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8" name="Google Shape;1018;p44"/>
            <p:cNvCxnSpPr/>
            <p:nvPr/>
          </p:nvCxnSpPr>
          <p:spPr>
            <a:xfrm>
              <a:off x="4753898" y="547513"/>
              <a:ext cx="988200" cy="0"/>
            </a:xfrm>
            <a:prstGeom prst="straightConnector1">
              <a:avLst/>
            </a:prstGeom>
            <a:noFill/>
            <a:ln cap="flat" cmpd="sng" w="9525">
              <a:solidFill>
                <a:srgbClr val="5F7D9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9" name="Google Shape;1019;p44"/>
            <p:cNvCxnSpPr/>
            <p:nvPr/>
          </p:nvCxnSpPr>
          <p:spPr>
            <a:xfrm>
              <a:off x="6143961" y="547513"/>
              <a:ext cx="988200" cy="0"/>
            </a:xfrm>
            <a:prstGeom prst="straightConnector1">
              <a:avLst/>
            </a:prstGeom>
            <a:noFill/>
            <a:ln cap="flat" cmpd="sng" w="9525">
              <a:solidFill>
                <a:srgbClr val="5F7D9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20" name="Google Shape;1020;p44"/>
          <p:cNvSpPr txBox="1"/>
          <p:nvPr/>
        </p:nvSpPr>
        <p:spPr>
          <a:xfrm>
            <a:off x="4827388" y="1385125"/>
            <a:ext cx="39729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WP4 — Model Training, Tuning &amp; Evaluation</a:t>
            </a:r>
            <a:endParaRPr b="1" sz="17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T1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Model implementation &amp; training pipeline</a:t>
            </a:r>
            <a:endParaRPr b="1" sz="1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T2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Hyperparameter tuning and error analysis</a:t>
            </a:r>
            <a:endParaRPr b="1" sz="1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T3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MELT-compatible alignment file generation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21" name="Google Shape;1021;p44"/>
          <p:cNvSpPr txBox="1"/>
          <p:nvPr/>
        </p:nvSpPr>
        <p:spPr>
          <a:xfrm>
            <a:off x="755913" y="2621450"/>
            <a:ext cx="39729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WP2 — Data Preparation &amp; Dataset Builder</a:t>
            </a:r>
            <a:endParaRPr i="1" sz="11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T1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OAEI Loader (ontologies + reference alignment)</a:t>
            </a:r>
            <a:endParaRPr b="1" sz="1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T2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Dataset Builder (positive + negative samples)</a:t>
            </a:r>
            <a:endParaRPr b="1" sz="1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T3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Train/Val/Test split with leakage prevention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22" name="Google Shape;1022;p44"/>
          <p:cNvSpPr txBox="1"/>
          <p:nvPr/>
        </p:nvSpPr>
        <p:spPr>
          <a:xfrm>
            <a:off x="755913" y="3680450"/>
            <a:ext cx="39729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WP3 — Literature Review &amp; Architecture Selection</a:t>
            </a:r>
            <a:endParaRPr i="1" sz="11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T1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Literature review</a:t>
            </a:r>
            <a:endParaRPr b="1" sz="1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T2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Baseline implementation (TF-IDF + cosine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  <a:endParaRPr b="1" sz="1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T3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Comparative evaluation (precision/recall/F1)</a:t>
            </a:r>
            <a:endParaRPr b="1" sz="1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T4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Final architecture selection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23" name="Google Shape;1023;p44"/>
          <p:cNvSpPr txBox="1"/>
          <p:nvPr/>
        </p:nvSpPr>
        <p:spPr>
          <a:xfrm>
            <a:off x="4827388" y="2820475"/>
            <a:ext cx="39729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WP5 — Packaging &amp; Final Presentation</a:t>
            </a:r>
            <a:endParaRPr i="1"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T1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Code packaging (modular repo: loader, builder, baseline, model)</a:t>
            </a:r>
            <a:endParaRPr sz="1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T2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Technical documentation + inference examples</a:t>
            </a:r>
            <a:endParaRPr sz="1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T3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Final report + slide deck (Checkpoint 3)</a:t>
            </a:r>
            <a:endParaRPr sz="1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T4 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-&gt;</a:t>
            </a:r>
            <a:r>
              <a:rPr b="1"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Public release of the full reproducible pipeline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024" name="Google Shape;1024;p44"/>
          <p:cNvGrpSpPr/>
          <p:nvPr/>
        </p:nvGrpSpPr>
        <p:grpSpPr>
          <a:xfrm flipH="1">
            <a:off x="2018126" y="3680438"/>
            <a:ext cx="1448469" cy="18598"/>
            <a:chOff x="219558" y="4738465"/>
            <a:chExt cx="5852400" cy="102300"/>
          </a:xfrm>
        </p:grpSpPr>
        <p:cxnSp>
          <p:nvCxnSpPr>
            <p:cNvPr id="1025" name="Google Shape;1025;p44"/>
            <p:cNvCxnSpPr/>
            <p:nvPr/>
          </p:nvCxnSpPr>
          <p:spPr>
            <a:xfrm>
              <a:off x="219558" y="4789684"/>
              <a:ext cx="5852400" cy="0"/>
            </a:xfrm>
            <a:prstGeom prst="straightConnector1">
              <a:avLst/>
            </a:prstGeom>
            <a:noFill/>
            <a:ln cap="flat" cmpd="sng" w="9525">
              <a:solidFill>
                <a:srgbClr val="5F7D95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026" name="Google Shape;1026;p44"/>
            <p:cNvSpPr/>
            <p:nvPr/>
          </p:nvSpPr>
          <p:spPr>
            <a:xfrm>
              <a:off x="1200298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44"/>
            <p:cNvSpPr/>
            <p:nvPr/>
          </p:nvSpPr>
          <p:spPr>
            <a:xfrm>
              <a:off x="2175146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44"/>
            <p:cNvSpPr/>
            <p:nvPr/>
          </p:nvSpPr>
          <p:spPr>
            <a:xfrm>
              <a:off x="3040751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44"/>
            <p:cNvSpPr/>
            <p:nvPr/>
          </p:nvSpPr>
          <p:spPr>
            <a:xfrm>
              <a:off x="4028157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44"/>
            <p:cNvSpPr/>
            <p:nvPr/>
          </p:nvSpPr>
          <p:spPr>
            <a:xfrm>
              <a:off x="5040827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1" name="Google Shape;1031;p44"/>
          <p:cNvGrpSpPr/>
          <p:nvPr/>
        </p:nvGrpSpPr>
        <p:grpSpPr>
          <a:xfrm flipH="1">
            <a:off x="2018126" y="2553501"/>
            <a:ext cx="1448469" cy="18598"/>
            <a:chOff x="219558" y="4738465"/>
            <a:chExt cx="5852400" cy="102300"/>
          </a:xfrm>
        </p:grpSpPr>
        <p:cxnSp>
          <p:nvCxnSpPr>
            <p:cNvPr id="1032" name="Google Shape;1032;p44"/>
            <p:cNvCxnSpPr/>
            <p:nvPr/>
          </p:nvCxnSpPr>
          <p:spPr>
            <a:xfrm>
              <a:off x="219558" y="4789684"/>
              <a:ext cx="5852400" cy="0"/>
            </a:xfrm>
            <a:prstGeom prst="straightConnector1">
              <a:avLst/>
            </a:prstGeom>
            <a:noFill/>
            <a:ln cap="flat" cmpd="sng" w="9525">
              <a:solidFill>
                <a:srgbClr val="5F7D95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033" name="Google Shape;1033;p44"/>
            <p:cNvSpPr/>
            <p:nvPr/>
          </p:nvSpPr>
          <p:spPr>
            <a:xfrm>
              <a:off x="1200298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44"/>
            <p:cNvSpPr/>
            <p:nvPr/>
          </p:nvSpPr>
          <p:spPr>
            <a:xfrm>
              <a:off x="2175146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44"/>
            <p:cNvSpPr/>
            <p:nvPr/>
          </p:nvSpPr>
          <p:spPr>
            <a:xfrm>
              <a:off x="3040751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44"/>
            <p:cNvSpPr/>
            <p:nvPr/>
          </p:nvSpPr>
          <p:spPr>
            <a:xfrm>
              <a:off x="4028157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44"/>
            <p:cNvSpPr/>
            <p:nvPr/>
          </p:nvSpPr>
          <p:spPr>
            <a:xfrm>
              <a:off x="5040827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8" name="Google Shape;1038;p44"/>
          <p:cNvGrpSpPr/>
          <p:nvPr/>
        </p:nvGrpSpPr>
        <p:grpSpPr>
          <a:xfrm flipH="1">
            <a:off x="6089601" y="2623001"/>
            <a:ext cx="1448469" cy="18598"/>
            <a:chOff x="219558" y="4738465"/>
            <a:chExt cx="5852400" cy="102300"/>
          </a:xfrm>
        </p:grpSpPr>
        <p:cxnSp>
          <p:nvCxnSpPr>
            <p:cNvPr id="1039" name="Google Shape;1039;p44"/>
            <p:cNvCxnSpPr/>
            <p:nvPr/>
          </p:nvCxnSpPr>
          <p:spPr>
            <a:xfrm>
              <a:off x="219558" y="4789684"/>
              <a:ext cx="5852400" cy="0"/>
            </a:xfrm>
            <a:prstGeom prst="straightConnector1">
              <a:avLst/>
            </a:prstGeom>
            <a:noFill/>
            <a:ln cap="flat" cmpd="sng" w="9525">
              <a:solidFill>
                <a:srgbClr val="5F7D95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040" name="Google Shape;1040;p44"/>
            <p:cNvSpPr/>
            <p:nvPr/>
          </p:nvSpPr>
          <p:spPr>
            <a:xfrm>
              <a:off x="1200298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44"/>
            <p:cNvSpPr/>
            <p:nvPr/>
          </p:nvSpPr>
          <p:spPr>
            <a:xfrm>
              <a:off x="2175146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44"/>
            <p:cNvSpPr/>
            <p:nvPr/>
          </p:nvSpPr>
          <p:spPr>
            <a:xfrm>
              <a:off x="3040751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44"/>
            <p:cNvSpPr/>
            <p:nvPr/>
          </p:nvSpPr>
          <p:spPr>
            <a:xfrm>
              <a:off x="4028157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44"/>
            <p:cNvSpPr/>
            <p:nvPr/>
          </p:nvSpPr>
          <p:spPr>
            <a:xfrm>
              <a:off x="5040827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PACKAGES TIMELINE</a:t>
            </a:r>
            <a:endParaRPr b="0" sz="260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graphicFrame>
        <p:nvGraphicFramePr>
          <p:cNvPr id="1050" name="Google Shape;1050;p45"/>
          <p:cNvGraphicFramePr/>
          <p:nvPr/>
        </p:nvGraphicFramePr>
        <p:xfrm>
          <a:off x="1064450" y="1017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{4902DE4A-83B4-47DE-BFD9-526EA7EDCC3A}</a:tableStyleId>
              </a:tblPr>
              <a:tblGrid>
                <a:gridCol w="1361775"/>
                <a:gridCol w="2208575"/>
                <a:gridCol w="344475"/>
                <a:gridCol w="344475"/>
                <a:gridCol w="344475"/>
                <a:gridCol w="344475"/>
                <a:gridCol w="344475"/>
                <a:gridCol w="344475"/>
                <a:gridCol w="344475"/>
                <a:gridCol w="344475"/>
                <a:gridCol w="344475"/>
                <a:gridCol w="344475"/>
              </a:tblGrid>
              <a:tr h="44185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gridSpan="10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Weeks</a:t>
                      </a:r>
                      <a:endParaRPr b="1" sz="110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406B">
                        <a:alpha val="20000"/>
                      </a:srgbClr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4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WP</a:t>
                      </a:r>
                      <a:endParaRPr sz="17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406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OBJECTIVE</a:t>
                      </a:r>
                      <a:endParaRPr sz="11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406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406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2</a:t>
                      </a:r>
                      <a:endParaRPr sz="11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406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3</a:t>
                      </a:r>
                      <a:endParaRPr sz="11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406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4</a:t>
                      </a:r>
                      <a:endParaRPr sz="11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406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5</a:t>
                      </a:r>
                      <a:endParaRPr sz="11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406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6</a:t>
                      </a:r>
                      <a:endParaRPr sz="11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406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7</a:t>
                      </a:r>
                      <a:endParaRPr sz="11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406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8</a:t>
                      </a:r>
                      <a:endParaRPr sz="11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406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9</a:t>
                      </a:r>
                      <a:endParaRPr sz="11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406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10</a:t>
                      </a:r>
                      <a:endParaRPr sz="11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406B">
                        <a:alpha val="20000"/>
                      </a:srgbClr>
                    </a:solidFill>
                  </a:tcPr>
                </a:tc>
              </a:tr>
              <a:tr h="45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WP1</a:t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Domain understanding &amp; conceptual design</a:t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WP2</a:t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Data loading tools &amp; training dataset construction</a:t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87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WP3</a:t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SOTA analysis, baseline definition &amp; model selection</a:t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WP4</a:t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Model implementation, optimization &amp; OAEI/MELT-ready output</a:t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WP5</a:t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Final delivery, replicability &amp; reporting</a:t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46"/>
          <p:cNvSpPr txBox="1"/>
          <p:nvPr>
            <p:ph type="title"/>
          </p:nvPr>
        </p:nvSpPr>
        <p:spPr>
          <a:xfrm>
            <a:off x="2019900" y="1925475"/>
            <a:ext cx="5307000" cy="998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THANK YOU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056" name="Google Shape;1056;p46"/>
          <p:cNvGrpSpPr/>
          <p:nvPr/>
        </p:nvGrpSpPr>
        <p:grpSpPr>
          <a:xfrm flipH="1">
            <a:off x="5252081" y="429752"/>
            <a:ext cx="4791669" cy="923822"/>
            <a:chOff x="-78438" y="3775205"/>
            <a:chExt cx="4791669" cy="923822"/>
          </a:xfrm>
        </p:grpSpPr>
        <p:cxnSp>
          <p:nvCxnSpPr>
            <p:cNvPr id="1057" name="Google Shape;1057;p46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8" name="Google Shape;1058;p46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9" name="Google Shape;1059;p46"/>
            <p:cNvSpPr/>
            <p:nvPr/>
          </p:nvSpPr>
          <p:spPr>
            <a:xfrm>
              <a:off x="4519806" y="37752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0" name="Google Shape;1060;p46"/>
          <p:cNvSpPr/>
          <p:nvPr/>
        </p:nvSpPr>
        <p:spPr>
          <a:xfrm>
            <a:off x="928558" y="-516457"/>
            <a:ext cx="43116" cy="474994"/>
          </a:xfrm>
          <a:custGeom>
            <a:rect b="b" l="l" r="r" t="t"/>
            <a:pathLst>
              <a:path extrusionOk="0" fill="none" h="8307" w="754">
                <a:moveTo>
                  <a:pt x="391" y="8307"/>
                </a:moveTo>
                <a:lnTo>
                  <a:pt x="391" y="8307"/>
                </a:lnTo>
                <a:cubicBezTo>
                  <a:pt x="181" y="8307"/>
                  <a:pt x="0" y="8155"/>
                  <a:pt x="0" y="7944"/>
                </a:cubicBezTo>
                <a:lnTo>
                  <a:pt x="0" y="363"/>
                </a:lnTo>
                <a:cubicBezTo>
                  <a:pt x="0" y="182"/>
                  <a:pt x="181" y="1"/>
                  <a:pt x="391" y="1"/>
                </a:cubicBezTo>
                <a:lnTo>
                  <a:pt x="391" y="1"/>
                </a:lnTo>
                <a:cubicBezTo>
                  <a:pt x="573" y="1"/>
                  <a:pt x="754" y="182"/>
                  <a:pt x="754" y="363"/>
                </a:cubicBezTo>
                <a:lnTo>
                  <a:pt x="754" y="7944"/>
                </a:lnTo>
                <a:cubicBezTo>
                  <a:pt x="754" y="8155"/>
                  <a:pt x="573" y="8307"/>
                  <a:pt x="391" y="8307"/>
                </a:cubicBezTo>
                <a:close/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miter lim="724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1" name="Google Shape;1061;p46"/>
          <p:cNvGrpSpPr/>
          <p:nvPr/>
        </p:nvGrpSpPr>
        <p:grpSpPr>
          <a:xfrm>
            <a:off x="-2656889" y="3115804"/>
            <a:ext cx="3859204" cy="615399"/>
            <a:chOff x="-6675" y="307100"/>
            <a:chExt cx="9140700" cy="4634025"/>
          </a:xfrm>
        </p:grpSpPr>
        <p:cxnSp>
          <p:nvCxnSpPr>
            <p:cNvPr id="1062" name="Google Shape;1062;p46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3" name="Google Shape;1063;p46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4" name="Google Shape;1064;p46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5" name="Google Shape;1065;p46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46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7" name="Google Shape;1067;p46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" name="Google Shape;1068;p46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9" name="Google Shape;1069;p46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0" name="Google Shape;1070;p46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1" name="Google Shape;1071;p46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72" name="Google Shape;1072;p46"/>
          <p:cNvSpPr/>
          <p:nvPr/>
        </p:nvSpPr>
        <p:spPr>
          <a:xfrm rot="-5400000">
            <a:off x="-1598137" y="62879"/>
            <a:ext cx="6471825" cy="764225"/>
          </a:xfrm>
          <a:custGeom>
            <a:rect b="b" l="l" r="r" t="t"/>
            <a:pathLst>
              <a:path extrusionOk="0" h="30569" w="258873">
                <a:moveTo>
                  <a:pt x="0" y="0"/>
                </a:moveTo>
                <a:lnTo>
                  <a:pt x="76910" y="0"/>
                </a:lnTo>
                <a:lnTo>
                  <a:pt x="107480" y="30569"/>
                </a:lnTo>
                <a:lnTo>
                  <a:pt x="167406" y="30569"/>
                </a:lnTo>
                <a:lnTo>
                  <a:pt x="176418" y="14960"/>
                </a:lnTo>
                <a:lnTo>
                  <a:pt x="258873" y="14960"/>
                </a:lnTo>
                <a:lnTo>
                  <a:pt x="258873" y="10918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3" name="Google Shape;1073;p46"/>
          <p:cNvSpPr txBox="1"/>
          <p:nvPr/>
        </p:nvSpPr>
        <p:spPr>
          <a:xfrm>
            <a:off x="3364500" y="3115850"/>
            <a:ext cx="26178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ANY QUESTIONS?</a:t>
            </a:r>
            <a:endParaRPr b="1" sz="17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